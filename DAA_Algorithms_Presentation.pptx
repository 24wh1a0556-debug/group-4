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7da8177-a3e3-c201-46e5-04351425e3c6}">
          <p14:sldIdLst>
            <p14:sldId id="256"/>
            <p14:sldId id="257"/>
          </p14:sldIdLst>
        </p14:section>
        <p14:section name="Unit 1" id="{026e8a8d-5917-cb63-1367-5461781f7d01}">
          <p14:sldIdLst>
            <p14:sldId id="258"/>
            <p14:sldId id="259"/>
          </p14:sldIdLst>
        </p14:section>
        <p14:section name="Unit 2" id="{e8031c5f-2225-7eb4-2689-63d402e60368}">
          <p14:sldIdLst>
            <p14:sldId id="260"/>
            <p14:sldId id="261"/>
          </p14:sldIdLst>
        </p14:section>
        <p14:section name="Unit 3" id="{5626e22f-e991-f22d-ef74-a8838752aa7f}">
          <p14:sldIdLst>
            <p14:sldId id="262"/>
            <p14:sldId id="263"/>
          </p14:sldIdLst>
        </p14:section>
        <p14:section name="Unit 4" id="{9e94408d-f968-c416-5a3f-cba270310097}">
          <p14:sldIdLst>
            <p14:sldId id="264"/>
            <p14:sldId id="265"/>
          </p14:sldIdLst>
        </p14:section>
        <p14:section name="Unit 5" id="{50ffd6c4-92d6-d6ee-517b-54b5fc8d8a32}">
          <p14:sldIdLst>
            <p14:sldId id="266"/>
            <p14:sldId id="267"/>
          </p14:sldIdLst>
        </p14:section>
        <p14:section name="Summary" id="{98da59e9-4885-8375-6851-a40038b868b3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one representative problem from each of the five units of Design and Analysis of Algorithms: sorting analysis, Strassen's matrix multiplication, 0/1 knapsack, N-Queens and the travelling salesman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problem per unit. For each one we first state the problem and the idea, then walk through the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algorithms use divide and conquer. Merge sort does its work while merging; quick sort does its work while partitioning around a pivot. The table summarises the theoretical differences before we look at measured running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graph plots execution time in seconds against input size for n = 10, 100 and 1000. Both curves grow at almost the same rate, which matches the O(n log n) average case. Quick sort is slightly faster at n = 1000, roughly 0.00135 s against 0.0014 s. Single timing runs are noisy, so treat small gaps with 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multiply two n by n matrices. The classical divide and conquer method needs 8 recursive multiplications of half-size blocks. Strassen found a way to do it with 7, at the cost of extra additions. That single saving changes the exponent from 3 to about 2.81.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= [[1,2],[3,4]] and B = [[5,6],[7,8]]. Seven products M1 to M7 are computed: 65, 35, -2, 8, 24, 22, -30. Combining them gives C11 = 19, C12 = 22, C21 = 43, C22 = 50, which equals the ordinary matrix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Given items with weights and profits and a bag of capacity W, choose a subset that maximises total profit. Each item is taken whole or left out. Dynamic programming works because the problem has optimal substructure and overlapping subproblems, so we fill a table once instead of recomputing.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cell K[i][w] is the best profit using the first i items with capacity w. The three highlighted cells show an include decision, an exclude decision and the final answer. Tracing back from K[4][10] = 13 shows items 4, 2 and 1 are selected, with total weight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N queens on an N by N board so that no two attack each other. We place one queen per row, test each column, prune any unsafe choice, and backtrack when a row has no safe column. For N = 4 there are exactly 2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tree explores one row per level. Green nodes are valid placements, red nodes are pruned because of a column or diagonal conflict, and blue arrows show backtracking. N = 4 has two solutions, which are mirror images of each other: columns 2, 4, 1, 3 and columns 3, 1, 4,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 the cheapest tour that visits every city exactly once and returns to the start. Brute force checks (n-1)! tours. Branch and bound expands the partial tour with the smallest bound first and discards any branch whose bound is not better than the best complete tour found so far.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root has bound 55. A to B and A to D have bound 70 and A to C has 75, so B is expanded first. A to B to D gives the first complete tour with cost 80, so best = 80. Four branches with bound 95 are pruned, and A to C to D has bound 80 which cannot improve on 80. The optimal tour A-B-D-C-A costs 80. The equal-cost alternative is the same tour travelled in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links each problem to its design paradigm and typical complexity. The common thread is to break a hard problem into smaller ones and avoid repeated or useless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that the right paradigm depends on the structure of the problem.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105156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88036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Design and Analysis of Algorithms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Design and Analysis of Algorithms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621792"/>
            <a:ext cx="67665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Design and Analysis of Algorithms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8803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Five algorithm design paradigms explained through five classic problems</a:t>
            </a:r>
            <a:endParaRPr lang="en-US" sz="2000" dirty="0"/>
          </a:p>
        </p:txBody>
      </p:sp>
      <p:sp>
        <p:nvSpPr>
          <p:cNvPr id="4" name="card-1"/>
          <p:cNvSpPr/>
          <p:nvPr/>
        </p:nvSpPr>
        <p:spPr>
          <a:xfrm>
            <a:off x="731520" y="45720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1F6F8B"/>
          </a:solidFill>
          <a:ln/>
        </p:spPr>
      </p:sp>
      <p:sp>
        <p:nvSpPr>
          <p:cNvPr id="5" name="text-2"/>
          <p:cNvSpPr txBox="1"/>
          <p:nvPr/>
        </p:nvSpPr>
        <p:spPr>
          <a:xfrm>
            <a:off x="914400" y="4736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UNIT 1</a:t>
            </a:r>
            <a:endParaRPr lang="en-US" sz="1200" dirty="0"/>
          </a:p>
        </p:txBody>
      </p:sp>
      <p:sp>
        <p:nvSpPr>
          <p:cNvPr id="6" name="text-3"/>
          <p:cNvSpPr txBox="1"/>
          <p:nvPr/>
        </p:nvSpPr>
        <p:spPr>
          <a:xfrm>
            <a:off x="914400" y="5029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Algorithm Analysis</a:t>
            </a:r>
            <a:endParaRPr lang="en-US" sz="1500" dirty="0"/>
          </a:p>
        </p:txBody>
      </p:sp>
      <p:sp>
        <p:nvSpPr>
          <p:cNvPr id="7" name="card-4"/>
          <p:cNvSpPr/>
          <p:nvPr/>
        </p:nvSpPr>
        <p:spPr>
          <a:xfrm>
            <a:off x="2926080" y="45720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1F6F8B"/>
          </a:solidFill>
          <a:ln/>
        </p:spPr>
      </p:sp>
      <p:sp>
        <p:nvSpPr>
          <p:cNvPr id="8" name="text-5"/>
          <p:cNvSpPr txBox="1"/>
          <p:nvPr/>
        </p:nvSpPr>
        <p:spPr>
          <a:xfrm>
            <a:off x="3108960" y="4736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UNIT 2</a:t>
            </a:r>
            <a:endParaRPr lang="en-US" sz="1200" dirty="0"/>
          </a:p>
        </p:txBody>
      </p:sp>
      <p:sp>
        <p:nvSpPr>
          <p:cNvPr id="9" name="text-6"/>
          <p:cNvSpPr txBox="1"/>
          <p:nvPr/>
        </p:nvSpPr>
        <p:spPr>
          <a:xfrm>
            <a:off x="3108960" y="5029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Divide and Conquer</a:t>
            </a:r>
            <a:endParaRPr lang="en-US" sz="1500" dirty="0"/>
          </a:p>
        </p:txBody>
      </p:sp>
      <p:sp>
        <p:nvSpPr>
          <p:cNvPr id="10" name="card-7"/>
          <p:cNvSpPr/>
          <p:nvPr/>
        </p:nvSpPr>
        <p:spPr>
          <a:xfrm>
            <a:off x="5120640" y="45720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1F6F8B"/>
          </a:solidFill>
          <a:ln/>
        </p:spPr>
      </p:sp>
      <p:sp>
        <p:nvSpPr>
          <p:cNvPr id="11" name="text-8"/>
          <p:cNvSpPr txBox="1"/>
          <p:nvPr/>
        </p:nvSpPr>
        <p:spPr>
          <a:xfrm>
            <a:off x="5303520" y="4736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UNIT 3</a:t>
            </a:r>
            <a:endParaRPr lang="en-US" sz="1200" dirty="0"/>
          </a:p>
        </p:txBody>
      </p:sp>
      <p:sp>
        <p:nvSpPr>
          <p:cNvPr id="12" name="text-9"/>
          <p:cNvSpPr txBox="1"/>
          <p:nvPr/>
        </p:nvSpPr>
        <p:spPr>
          <a:xfrm>
            <a:off x="5303520" y="5029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Dynamic Programming</a:t>
            </a:r>
            <a:endParaRPr lang="en-US" sz="1500" dirty="0"/>
          </a:p>
        </p:txBody>
      </p:sp>
      <p:sp>
        <p:nvSpPr>
          <p:cNvPr id="13" name="card-10"/>
          <p:cNvSpPr/>
          <p:nvPr/>
        </p:nvSpPr>
        <p:spPr>
          <a:xfrm>
            <a:off x="7315200" y="45720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1F6F8B"/>
          </a:solidFill>
          <a:ln/>
        </p:spPr>
      </p:sp>
      <p:sp>
        <p:nvSpPr>
          <p:cNvPr id="14" name="text-11"/>
          <p:cNvSpPr txBox="1"/>
          <p:nvPr/>
        </p:nvSpPr>
        <p:spPr>
          <a:xfrm>
            <a:off x="7498080" y="4736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UNIT 4</a:t>
            </a:r>
            <a:endParaRPr lang="en-US" sz="1200" dirty="0"/>
          </a:p>
        </p:txBody>
      </p:sp>
      <p:sp>
        <p:nvSpPr>
          <p:cNvPr id="15" name="text-12"/>
          <p:cNvSpPr txBox="1"/>
          <p:nvPr/>
        </p:nvSpPr>
        <p:spPr>
          <a:xfrm>
            <a:off x="7498080" y="5029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Backtracking</a:t>
            </a:r>
            <a:endParaRPr lang="en-US" sz="1500" dirty="0"/>
          </a:p>
        </p:txBody>
      </p:sp>
      <p:sp>
        <p:nvSpPr>
          <p:cNvPr id="16" name="card-13"/>
          <p:cNvSpPr/>
          <p:nvPr/>
        </p:nvSpPr>
        <p:spPr>
          <a:xfrm>
            <a:off x="9509760" y="45720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1F6F8B"/>
          </a:solidFill>
          <a:ln/>
        </p:spPr>
      </p:sp>
      <p:sp>
        <p:nvSpPr>
          <p:cNvPr id="17" name="text-14"/>
          <p:cNvSpPr txBox="1"/>
          <p:nvPr/>
        </p:nvSpPr>
        <p:spPr>
          <a:xfrm>
            <a:off x="9692640" y="4736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UNIT 5</a:t>
            </a:r>
            <a:endParaRPr lang="en-US" sz="1200" dirty="0"/>
          </a:p>
        </p:txBody>
      </p:sp>
      <p:sp>
        <p:nvSpPr>
          <p:cNvPr id="18" name="text-15"/>
          <p:cNvSpPr txBox="1"/>
          <p:nvPr/>
        </p:nvSpPr>
        <p:spPr>
          <a:xfrm>
            <a:off x="9692640" y="5029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Branch and Bound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6"/>
          <p:cNvSpPr txBox="1"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we will cover</a:t>
            </a:r>
            <a:endParaRPr lang="en-US" sz="3400" dirty="0"/>
          </a:p>
        </p:txBody>
      </p:sp>
      <p:sp>
        <p:nvSpPr>
          <p:cNvPr id="5" name="text-17"/>
          <p:cNvSpPr txBox="1"/>
          <p:nvPr/>
        </p:nvSpPr>
        <p:spPr>
          <a:xfrm>
            <a:off x="941832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Complexity</a:t>
            </a:r>
            <a:endParaRPr lang="en-US" sz="1200" dirty="0"/>
          </a:p>
        </p:txBody>
      </p:sp>
      <p:sp>
        <p:nvSpPr>
          <p:cNvPr id="6" name="card-18"/>
          <p:cNvSpPr/>
          <p:nvPr/>
        </p:nvSpPr>
        <p:spPr>
          <a:xfrm>
            <a:off x="548640" y="1691640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EEF3F8"/>
          </a:solidFill>
          <a:ln/>
        </p:spPr>
      </p:sp>
      <p:sp>
        <p:nvSpPr>
          <p:cNvPr id="7" name="badge-19"/>
          <p:cNvSpPr/>
          <p:nvPr/>
        </p:nvSpPr>
        <p:spPr>
          <a:xfrm>
            <a:off x="731520" y="1819656"/>
            <a:ext cx="512064" cy="512064"/>
          </a:xfrm>
          <a:prstGeom prst="ellipse">
            <a:avLst/>
          </a:prstGeom>
          <a:solidFill>
            <a:srgbClr val="12263F"/>
          </a:solidFill>
          <a:ln/>
        </p:spPr>
      </p:sp>
      <p:sp>
        <p:nvSpPr>
          <p:cNvPr id="8" name="text-20"/>
          <p:cNvSpPr txBox="1"/>
          <p:nvPr/>
        </p:nvSpPr>
        <p:spPr>
          <a:xfrm>
            <a:off x="731520" y="1819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-21"/>
          <p:cNvSpPr txBox="1"/>
          <p:nvPr/>
        </p:nvSpPr>
        <p:spPr>
          <a:xfrm>
            <a:off x="1508760" y="17830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Merge Sort vs Quick Sort</a:t>
            </a:r>
            <a:endParaRPr lang="en-US" sz="1800" dirty="0"/>
          </a:p>
        </p:txBody>
      </p:sp>
      <p:sp>
        <p:nvSpPr>
          <p:cNvPr id="10" name="text-22"/>
          <p:cNvSpPr txBox="1"/>
          <p:nvPr/>
        </p:nvSpPr>
        <p:spPr>
          <a:xfrm>
            <a:off x="1508760" y="21122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Comparing running times of two sorting algorithms</a:t>
            </a:r>
            <a:endParaRPr lang="en-US" sz="1400" dirty="0"/>
          </a:p>
        </p:txBody>
      </p:sp>
      <p:sp>
        <p:nvSpPr>
          <p:cNvPr id="11" name="text-23"/>
          <p:cNvSpPr txBox="1"/>
          <p:nvPr/>
        </p:nvSpPr>
        <p:spPr>
          <a:xfrm>
            <a:off x="9418320" y="187452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O(n log n)</a:t>
            </a:r>
            <a:endParaRPr lang="en-US" sz="1600" dirty="0"/>
          </a:p>
        </p:txBody>
      </p:sp>
      <p:sp>
        <p:nvSpPr>
          <p:cNvPr id="12" name="card-24"/>
          <p:cNvSpPr/>
          <p:nvPr/>
        </p:nvSpPr>
        <p:spPr>
          <a:xfrm>
            <a:off x="548640" y="2587752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EEF3F8"/>
          </a:solidFill>
          <a:ln/>
        </p:spPr>
      </p:sp>
      <p:sp>
        <p:nvSpPr>
          <p:cNvPr id="13" name="badge-25"/>
          <p:cNvSpPr/>
          <p:nvPr/>
        </p:nvSpPr>
        <p:spPr>
          <a:xfrm>
            <a:off x="731520" y="2715768"/>
            <a:ext cx="512064" cy="512064"/>
          </a:xfrm>
          <a:prstGeom prst="ellipse">
            <a:avLst/>
          </a:prstGeom>
          <a:solidFill>
            <a:srgbClr val="12263F"/>
          </a:solidFill>
          <a:ln/>
        </p:spPr>
      </p:sp>
      <p:sp>
        <p:nvSpPr>
          <p:cNvPr id="14" name="text-26"/>
          <p:cNvSpPr txBox="1"/>
          <p:nvPr/>
        </p:nvSpPr>
        <p:spPr>
          <a:xfrm>
            <a:off x="731520" y="2715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-27"/>
          <p:cNvSpPr txBox="1"/>
          <p:nvPr/>
        </p:nvSpPr>
        <p:spPr>
          <a:xfrm>
            <a:off x="1508760" y="267919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Strassen's Matrix Multiplication</a:t>
            </a:r>
            <a:endParaRPr lang="en-US" sz="1800" dirty="0"/>
          </a:p>
        </p:txBody>
      </p:sp>
      <p:sp>
        <p:nvSpPr>
          <p:cNvPr id="16" name="text-28"/>
          <p:cNvSpPr txBox="1"/>
          <p:nvPr/>
        </p:nvSpPr>
        <p:spPr>
          <a:xfrm>
            <a:off x="1508760" y="300837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Divide and conquer with only 7 sub-multiplications</a:t>
            </a:r>
            <a:endParaRPr lang="en-US" sz="1400" dirty="0"/>
          </a:p>
        </p:txBody>
      </p:sp>
      <p:sp>
        <p:nvSpPr>
          <p:cNvPr id="17" name="text-29"/>
          <p:cNvSpPr txBox="1"/>
          <p:nvPr/>
        </p:nvSpPr>
        <p:spPr>
          <a:xfrm>
            <a:off x="9418320" y="27706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O(n</a:t>
            </a:r>
            <a:pPr indent="0" marL="0">
              <a:buNone/>
            </a:pPr>
            <a:r>
              <a:rPr lang="en-US" sz="1600" b="1" baseline="30000" dirty="0">
                <a:solidFill>
                  <a:schemeClr val="accent1"/>
                </a:solidFill>
              </a:rPr>
              <a:t>2.81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)</a:t>
            </a:r>
            <a:endParaRPr lang="en-US" sz="1600" dirty="0"/>
          </a:p>
        </p:txBody>
      </p:sp>
      <p:sp>
        <p:nvSpPr>
          <p:cNvPr id="18" name="card-30"/>
          <p:cNvSpPr/>
          <p:nvPr/>
        </p:nvSpPr>
        <p:spPr>
          <a:xfrm>
            <a:off x="548640" y="3483864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EEF3F8"/>
          </a:solidFill>
          <a:ln/>
        </p:spPr>
      </p:sp>
      <p:sp>
        <p:nvSpPr>
          <p:cNvPr id="19" name="badge-31"/>
          <p:cNvSpPr/>
          <p:nvPr/>
        </p:nvSpPr>
        <p:spPr>
          <a:xfrm>
            <a:off x="731520" y="3611880"/>
            <a:ext cx="512064" cy="512064"/>
          </a:xfrm>
          <a:prstGeom prst="ellipse">
            <a:avLst/>
          </a:prstGeom>
          <a:solidFill>
            <a:srgbClr val="12263F"/>
          </a:solidFill>
          <a:ln/>
        </p:spPr>
      </p:sp>
      <p:sp>
        <p:nvSpPr>
          <p:cNvPr id="20" name="text-32"/>
          <p:cNvSpPr txBox="1"/>
          <p:nvPr/>
        </p:nvSpPr>
        <p:spPr>
          <a:xfrm>
            <a:off x="731520" y="3611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-33"/>
          <p:cNvSpPr txBox="1"/>
          <p:nvPr/>
        </p:nvSpPr>
        <p:spPr>
          <a:xfrm>
            <a:off x="1508760" y="357530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0/1 Knapsack</a:t>
            </a:r>
            <a:endParaRPr lang="en-US" sz="1800" dirty="0"/>
          </a:p>
        </p:txBody>
      </p:sp>
      <p:sp>
        <p:nvSpPr>
          <p:cNvPr id="22" name="text-34"/>
          <p:cNvSpPr txBox="1"/>
          <p:nvPr/>
        </p:nvSpPr>
        <p:spPr>
          <a:xfrm>
            <a:off x="1508760" y="39044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Dynamic programming table and traceback</a:t>
            </a:r>
            <a:endParaRPr lang="en-US" sz="1400" dirty="0"/>
          </a:p>
        </p:txBody>
      </p:sp>
      <p:sp>
        <p:nvSpPr>
          <p:cNvPr id="23" name="text-35"/>
          <p:cNvSpPr txBox="1"/>
          <p:nvPr/>
        </p:nvSpPr>
        <p:spPr>
          <a:xfrm>
            <a:off x="9418320" y="366674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O(nW)</a:t>
            </a:r>
            <a:endParaRPr lang="en-US" sz="1600" dirty="0"/>
          </a:p>
        </p:txBody>
      </p:sp>
      <p:sp>
        <p:nvSpPr>
          <p:cNvPr id="24" name="card-36"/>
          <p:cNvSpPr/>
          <p:nvPr/>
        </p:nvSpPr>
        <p:spPr>
          <a:xfrm>
            <a:off x="548640" y="4379976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EEF3F8"/>
          </a:solidFill>
          <a:ln/>
        </p:spPr>
      </p:sp>
      <p:sp>
        <p:nvSpPr>
          <p:cNvPr id="25" name="badge-37"/>
          <p:cNvSpPr/>
          <p:nvPr/>
        </p:nvSpPr>
        <p:spPr>
          <a:xfrm>
            <a:off x="731520" y="4507992"/>
            <a:ext cx="512064" cy="512064"/>
          </a:xfrm>
          <a:prstGeom prst="ellipse">
            <a:avLst/>
          </a:prstGeom>
          <a:solidFill>
            <a:srgbClr val="12263F"/>
          </a:solidFill>
          <a:ln/>
        </p:spPr>
      </p:sp>
      <p:sp>
        <p:nvSpPr>
          <p:cNvPr id="26" name="text-38"/>
          <p:cNvSpPr txBox="1"/>
          <p:nvPr/>
        </p:nvSpPr>
        <p:spPr>
          <a:xfrm>
            <a:off x="731520" y="4507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-39"/>
          <p:cNvSpPr txBox="1"/>
          <p:nvPr/>
        </p:nvSpPr>
        <p:spPr>
          <a:xfrm>
            <a:off x="1508760" y="447141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N-Queens Problem</a:t>
            </a:r>
            <a:endParaRPr lang="en-US" sz="1800" dirty="0"/>
          </a:p>
        </p:txBody>
      </p:sp>
      <p:sp>
        <p:nvSpPr>
          <p:cNvPr id="28" name="text-40"/>
          <p:cNvSpPr txBox="1"/>
          <p:nvPr/>
        </p:nvSpPr>
        <p:spPr>
          <a:xfrm>
            <a:off x="1508760" y="4800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Backtracking on a state space tree</a:t>
            </a:r>
            <a:endParaRPr lang="en-US" sz="1400" dirty="0"/>
          </a:p>
        </p:txBody>
      </p:sp>
      <p:sp>
        <p:nvSpPr>
          <p:cNvPr id="29" name="text-41"/>
          <p:cNvSpPr txBox="1"/>
          <p:nvPr/>
        </p:nvSpPr>
        <p:spPr>
          <a:xfrm>
            <a:off x="9418320" y="456285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O(N!) worst case</a:t>
            </a:r>
            <a:endParaRPr lang="en-US" sz="1600" dirty="0"/>
          </a:p>
        </p:txBody>
      </p:sp>
      <p:sp>
        <p:nvSpPr>
          <p:cNvPr id="30" name="card-42"/>
          <p:cNvSpPr/>
          <p:nvPr/>
        </p:nvSpPr>
        <p:spPr>
          <a:xfrm>
            <a:off x="548640" y="5276088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EEF3F8"/>
          </a:solidFill>
          <a:ln/>
        </p:spPr>
      </p:sp>
      <p:sp>
        <p:nvSpPr>
          <p:cNvPr id="31" name="badge-43"/>
          <p:cNvSpPr/>
          <p:nvPr/>
        </p:nvSpPr>
        <p:spPr>
          <a:xfrm>
            <a:off x="731520" y="5404104"/>
            <a:ext cx="512064" cy="512064"/>
          </a:xfrm>
          <a:prstGeom prst="ellipse">
            <a:avLst/>
          </a:prstGeom>
          <a:solidFill>
            <a:srgbClr val="12263F"/>
          </a:solidFill>
          <a:ln/>
        </p:spPr>
      </p:sp>
      <p:sp>
        <p:nvSpPr>
          <p:cNvPr id="32" name="text-44"/>
          <p:cNvSpPr txBox="1"/>
          <p:nvPr/>
        </p:nvSpPr>
        <p:spPr>
          <a:xfrm>
            <a:off x="731520" y="5404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text-45"/>
          <p:cNvSpPr txBox="1"/>
          <p:nvPr/>
        </p:nvSpPr>
        <p:spPr>
          <a:xfrm>
            <a:off x="1508760" y="53675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Travelling Salesman Problem</a:t>
            </a:r>
            <a:endParaRPr lang="en-US" sz="1800" dirty="0"/>
          </a:p>
        </p:txBody>
      </p:sp>
      <p:sp>
        <p:nvSpPr>
          <p:cNvPr id="34" name="text-46"/>
          <p:cNvSpPr txBox="1"/>
          <p:nvPr/>
        </p:nvSpPr>
        <p:spPr>
          <a:xfrm>
            <a:off x="1508760" y="56967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Branch and bound search tree with pruning</a:t>
            </a:r>
            <a:endParaRPr lang="en-US" sz="1400" dirty="0"/>
          </a:p>
        </p:txBody>
      </p:sp>
      <p:sp>
        <p:nvSpPr>
          <p:cNvPr id="35" name="text-47"/>
          <p:cNvSpPr txBox="1"/>
          <p:nvPr/>
        </p:nvSpPr>
        <p:spPr>
          <a:xfrm>
            <a:off x="9418320" y="545896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(n−1)! worst case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48"/>
          <p:cNvSpPr txBox="1"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UNIT 1  ·  ANALYSIS OF ALGORITHMS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Merge Sort and Quick Sort</a:t>
            </a:r>
            <a:endParaRPr lang="en-US" sz="3400" dirty="0"/>
          </a:p>
        </p:txBody>
      </p:sp>
      <p:graphicFrame>
        <p:nvGraphicFramePr>
          <p:cNvPr id="4" name="complexit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572000"/>
                <a:gridCol w="4572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Merge Sort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Quick Sort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263F"/>
                          </a:solidFill>
                        </a:rPr>
                        <a:t>Approach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Split at the middle, sort both halves, merge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Pick a pivot, partition around it, sort both sides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263F"/>
                          </a:solidFill>
                        </a:rPr>
                        <a:t>Recurrence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T(n) = 2T(n/2) + O(n)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T(n) = T(k) + T(n−k−1) + O(n)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263F"/>
                          </a:solidFill>
                        </a:rPr>
                        <a:t>Best case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O(n log n)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O(n log n)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263F"/>
                          </a:solidFill>
                        </a:rPr>
                        <a:t>Average case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O(n log n)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O(n log n)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263F"/>
                          </a:solidFill>
                        </a:rPr>
                        <a:t>Worst case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O(n log n)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O(n</a:t>
                      </a:r>
                      <a:pPr indent="0" marL="0">
                        <a:buNone/>
                      </a:pPr>
                      <a:r>
                        <a:rPr lang="en-US" sz="1400" baseline="30000" dirty="0">
                          <a:solidFill>
                            <a:srgbClr val="1B2430"/>
                          </a:solidFill>
                        </a:rPr>
                        <a:t>2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) (very unbalanced pivots)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263F"/>
                          </a:solidFill>
                        </a:rPr>
                        <a:t>Extra space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O(n) temporary array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O(log n) stack, sorts in place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263F"/>
                          </a:solidFill>
                        </a:rPr>
                        <a:t>Stable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rd-49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4EEFA"/>
          </a:solidFill>
          <a:ln/>
        </p:spPr>
      </p:sp>
      <p:sp>
        <p:nvSpPr>
          <p:cNvPr id="7" name="text-50"/>
          <p:cNvSpPr txBox="1"/>
          <p:nvPr/>
        </p:nvSpPr>
        <p:spPr>
          <a:xfrm>
            <a:off x="777240" y="553212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Key idea: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asymptotically both are O(n log n) on average, so the real difference shows up in constant factors, memory use and worst-case behaviour.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51"/>
          <p:cNvSpPr txBox="1"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UNIT 1  ·  EXPERIMENTAL COMPARISON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Measured running time</a:t>
            </a:r>
            <a:endParaRPr lang="en-US" sz="3400" dirty="0"/>
          </a:p>
        </p:txBody>
      </p:sp>
      <p:sp>
        <p:nvSpPr>
          <p:cNvPr id="5" name="image-card-52"/>
          <p:cNvSpPr/>
          <p:nvPr/>
        </p:nvSpPr>
        <p:spPr>
          <a:xfrm>
            <a:off x="548640" y="1508760"/>
            <a:ext cx="71323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diagram-53" descr="Diagram: u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6949440" cy="4343400"/>
          </a:xfrm>
          <a:prstGeom prst="rect">
            <a:avLst/>
          </a:prstGeom>
        </p:spPr>
      </p:pic>
      <p:sp>
        <p:nvSpPr>
          <p:cNvPr id="7" name="card-54"/>
          <p:cNvSpPr/>
          <p:nvPr/>
        </p:nvSpPr>
        <p:spPr>
          <a:xfrm>
            <a:off x="8092440" y="1508760"/>
            <a:ext cx="3520440" cy="1078992"/>
          </a:xfrm>
          <a:prstGeom prst="roundRect">
            <a:avLst>
              <a:gd name="adj" fmla="val 6780"/>
            </a:avLst>
          </a:prstGeom>
          <a:solidFill>
            <a:srgbClr val="EEF3F8"/>
          </a:solidFill>
          <a:ln/>
        </p:spPr>
      </p:sp>
      <p:sp>
        <p:nvSpPr>
          <p:cNvPr id="8" name="text-55"/>
          <p:cNvSpPr txBox="1"/>
          <p:nvPr/>
        </p:nvSpPr>
        <p:spPr>
          <a:xfrm>
            <a:off x="8275320" y="161848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Setup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Both algorithms timed on inputs of size 10, 100 and 1000.</a:t>
            </a:r>
            <a:endParaRPr lang="en-US" sz="1400" dirty="0"/>
          </a:p>
        </p:txBody>
      </p:sp>
      <p:sp>
        <p:nvSpPr>
          <p:cNvPr id="9" name="card-56"/>
          <p:cNvSpPr/>
          <p:nvPr/>
        </p:nvSpPr>
        <p:spPr>
          <a:xfrm>
            <a:off x="8092440" y="2697480"/>
            <a:ext cx="3520440" cy="1078992"/>
          </a:xfrm>
          <a:prstGeom prst="roundRect">
            <a:avLst>
              <a:gd name="adj" fmla="val 6780"/>
            </a:avLst>
          </a:prstGeom>
          <a:solidFill>
            <a:srgbClr val="EEF3F8"/>
          </a:solidFill>
          <a:ln/>
        </p:spPr>
      </p:sp>
      <p:sp>
        <p:nvSpPr>
          <p:cNvPr id="10" name="text-57"/>
          <p:cNvSpPr txBox="1"/>
          <p:nvPr/>
        </p:nvSpPr>
        <p:spPr>
          <a:xfrm>
            <a:off x="8275320" y="280720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Observation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curves rise together. Quick sort stays a little below merge sort at n = 1000.</a:t>
            </a:r>
            <a:endParaRPr lang="en-US" sz="1400" dirty="0"/>
          </a:p>
        </p:txBody>
      </p:sp>
      <p:sp>
        <p:nvSpPr>
          <p:cNvPr id="11" name="card-58"/>
          <p:cNvSpPr/>
          <p:nvPr/>
        </p:nvSpPr>
        <p:spPr>
          <a:xfrm>
            <a:off x="8092440" y="3886200"/>
            <a:ext cx="3520440" cy="1078992"/>
          </a:xfrm>
          <a:prstGeom prst="roundRect">
            <a:avLst>
              <a:gd name="adj" fmla="val 6780"/>
            </a:avLst>
          </a:prstGeom>
          <a:solidFill>
            <a:srgbClr val="EEF3F8"/>
          </a:solidFill>
          <a:ln/>
        </p:spPr>
      </p:sp>
      <p:sp>
        <p:nvSpPr>
          <p:cNvPr id="12" name="text-59"/>
          <p:cNvSpPr txBox="1"/>
          <p:nvPr/>
        </p:nvSpPr>
        <p:spPr>
          <a:xfrm>
            <a:off x="8275320" y="39959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Quick sort sorts in place with good cache use. Merge sort copies into temporary arrays.</a:t>
            </a:r>
            <a:endParaRPr lang="en-US" sz="1400" dirty="0"/>
          </a:p>
        </p:txBody>
      </p:sp>
      <p:sp>
        <p:nvSpPr>
          <p:cNvPr id="13" name="card-60"/>
          <p:cNvSpPr/>
          <p:nvPr/>
        </p:nvSpPr>
        <p:spPr>
          <a:xfrm>
            <a:off x="8092440" y="5074920"/>
            <a:ext cx="3520440" cy="1078992"/>
          </a:xfrm>
          <a:prstGeom prst="roundRect">
            <a:avLst>
              <a:gd name="adj" fmla="val 6780"/>
            </a:avLst>
          </a:prstGeom>
          <a:solidFill>
            <a:srgbClr val="EEF3F8"/>
          </a:solidFill>
          <a:ln/>
        </p:spPr>
      </p:sp>
      <p:sp>
        <p:nvSpPr>
          <p:cNvPr id="14" name="text-61"/>
          <p:cNvSpPr txBox="1"/>
          <p:nvPr/>
        </p:nvSpPr>
        <p:spPr>
          <a:xfrm>
            <a:off x="8275320" y="518464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Caution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Random data hides quick sort’s O(n²) worst case.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62"/>
          <p:cNvSpPr txBox="1"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UNIT 2  ·  DIVIDE AND CONQUER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Strassen’s matrix multiplication</a:t>
            </a:r>
            <a:endParaRPr lang="en-US" sz="3400" dirty="0"/>
          </a:p>
        </p:txBody>
      </p:sp>
      <p:sp>
        <p:nvSpPr>
          <p:cNvPr id="5" name="text-63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Problem: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multiply two n × n matrices A and B to get C = A × B.</a:t>
            </a:r>
            <a:endParaRPr lang="en-US" sz="1800" dirty="0"/>
          </a:p>
        </p:txBody>
      </p:sp>
      <p:sp>
        <p:nvSpPr>
          <p:cNvPr id="6" name="card-64"/>
          <p:cNvSpPr/>
          <p:nvPr/>
        </p:nvSpPr>
        <p:spPr>
          <a:xfrm>
            <a:off x="548640" y="201168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EEF3F8"/>
          </a:solidFill>
          <a:ln/>
        </p:spPr>
      </p:sp>
      <p:sp>
        <p:nvSpPr>
          <p:cNvPr id="7" name="text-65"/>
          <p:cNvSpPr txBox="1"/>
          <p:nvPr/>
        </p:nvSpPr>
        <p:spPr>
          <a:xfrm>
            <a:off x="777240" y="2148840"/>
            <a:ext cx="1280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8800" dirty="0"/>
          </a:p>
        </p:txBody>
      </p:sp>
      <p:sp>
        <p:nvSpPr>
          <p:cNvPr id="8" name="text-66"/>
          <p:cNvSpPr txBox="1"/>
          <p:nvPr/>
        </p:nvSpPr>
        <p:spPr>
          <a:xfrm>
            <a:off x="2240280" y="224028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Classical divide and conquer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8 block multiplications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T(n) = 8T(n/2) + O(n²)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4"/>
                </a:solidFill>
              </a:rPr>
              <a:t>→ O(n</a:t>
            </a:r>
            <a:pPr indent="0" marL="0">
              <a:spcAft>
                <a:spcPts val="400"/>
              </a:spcAft>
              <a:buNone/>
            </a:pPr>
            <a:r>
              <a:rPr lang="en-US" sz="2000" b="1" baseline="30000" dirty="0">
                <a:solidFill>
                  <a:schemeClr val="accent4"/>
                </a:solidFill>
              </a:rPr>
              <a:t>3</a:t>
            </a:r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4"/>
                </a:solidFill>
              </a:rPr>
              <a:t>)</a:t>
            </a:r>
            <a:endParaRPr lang="en-US" sz="1400" dirty="0"/>
          </a:p>
        </p:txBody>
      </p:sp>
      <p:sp>
        <p:nvSpPr>
          <p:cNvPr id="9" name="card-67"/>
          <p:cNvSpPr/>
          <p:nvPr/>
        </p:nvSpPr>
        <p:spPr>
          <a:xfrm>
            <a:off x="6172200" y="201168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12263F"/>
          </a:solidFill>
          <a:ln/>
        </p:spPr>
      </p:sp>
      <p:sp>
        <p:nvSpPr>
          <p:cNvPr id="10" name="text-68"/>
          <p:cNvSpPr txBox="1"/>
          <p:nvPr/>
        </p:nvSpPr>
        <p:spPr>
          <a:xfrm>
            <a:off x="6400800" y="2148840"/>
            <a:ext cx="1280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8800" dirty="0"/>
          </a:p>
        </p:txBody>
      </p:sp>
      <p:sp>
        <p:nvSpPr>
          <p:cNvPr id="11" name="text-69"/>
          <p:cNvSpPr txBox="1"/>
          <p:nvPr/>
        </p:nvSpPr>
        <p:spPr>
          <a:xfrm>
            <a:off x="7863840" y="224028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Strassen’s algorithm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7 block multiplications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T(n) = 7T(n/2) + O(n²)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 O(n</a:t>
            </a:r>
            <a:pPr indent="0" marL="0">
              <a:spcAft>
                <a:spcPts val="400"/>
              </a:spcAft>
              <a:buNone/>
            </a:pPr>
            <a:r>
              <a:rPr lang="en-US" sz="2000" b="1" baseline="30000" dirty="0">
                <a:solidFill>
                  <a:schemeClr val="accent2"/>
                </a:solidFill>
              </a:rPr>
              <a:t>2.81</a:t>
            </a:r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)</a:t>
            </a:r>
            <a:endParaRPr lang="en-US" sz="1400" dirty="0"/>
          </a:p>
        </p:txBody>
      </p:sp>
      <p:sp>
        <p:nvSpPr>
          <p:cNvPr id="12" name="card-70"/>
          <p:cNvSpPr/>
          <p:nvPr/>
        </p:nvSpPr>
        <p:spPr>
          <a:xfrm>
            <a:off x="548640" y="44348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3" name="badge-71"/>
          <p:cNvSpPr/>
          <p:nvPr/>
        </p:nvSpPr>
        <p:spPr>
          <a:xfrm>
            <a:off x="777240" y="4617720"/>
            <a:ext cx="457200" cy="45720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14" name="text-72"/>
          <p:cNvSpPr txBox="1"/>
          <p:nvPr/>
        </p:nvSpPr>
        <p:spPr>
          <a:xfrm>
            <a:off x="7772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5" name="text-73"/>
          <p:cNvSpPr txBox="1"/>
          <p:nvPr/>
        </p:nvSpPr>
        <p:spPr>
          <a:xfrm>
            <a:off x="1417320" y="4617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Divide</a:t>
            </a:r>
            <a:endParaRPr lang="en-US" sz="1800" dirty="0"/>
          </a:p>
        </p:txBody>
      </p:sp>
      <p:sp>
        <p:nvSpPr>
          <p:cNvPr id="16" name="text-74"/>
          <p:cNvSpPr txBox="1"/>
          <p:nvPr/>
        </p:nvSpPr>
        <p:spPr>
          <a:xfrm>
            <a:off x="777240" y="5257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Split each matrix into four n/2 × n/2 blocks.</a:t>
            </a:r>
            <a:endParaRPr lang="en-US" sz="1400" dirty="0"/>
          </a:p>
        </p:txBody>
      </p:sp>
      <p:sp>
        <p:nvSpPr>
          <p:cNvPr id="17" name="arrow-75"/>
          <p:cNvSpPr txBox="1"/>
          <p:nvPr/>
        </p:nvSpPr>
        <p:spPr>
          <a:xfrm>
            <a:off x="4114800" y="5029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card-76"/>
          <p:cNvSpPr/>
          <p:nvPr/>
        </p:nvSpPr>
        <p:spPr>
          <a:xfrm>
            <a:off x="4297680" y="44348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9" name="badge-77"/>
          <p:cNvSpPr/>
          <p:nvPr/>
        </p:nvSpPr>
        <p:spPr>
          <a:xfrm>
            <a:off x="4526280" y="4617720"/>
            <a:ext cx="457200" cy="45720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20" name="text-78"/>
          <p:cNvSpPr txBox="1"/>
          <p:nvPr/>
        </p:nvSpPr>
        <p:spPr>
          <a:xfrm>
            <a:off x="45262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-79"/>
          <p:cNvSpPr txBox="1"/>
          <p:nvPr/>
        </p:nvSpPr>
        <p:spPr>
          <a:xfrm>
            <a:off x="5166360" y="4617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Conquer</a:t>
            </a:r>
            <a:endParaRPr lang="en-US" sz="1800" dirty="0"/>
          </a:p>
        </p:txBody>
      </p:sp>
      <p:sp>
        <p:nvSpPr>
          <p:cNvPr id="22" name="text-80"/>
          <p:cNvSpPr txBox="1"/>
          <p:nvPr/>
        </p:nvSpPr>
        <p:spPr>
          <a:xfrm>
            <a:off x="4526280" y="5257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Compute 7 products M1 to M7, each by recursion.</a:t>
            </a:r>
            <a:endParaRPr lang="en-US" sz="1400" dirty="0"/>
          </a:p>
        </p:txBody>
      </p:sp>
      <p:sp>
        <p:nvSpPr>
          <p:cNvPr id="23" name="arrow-81"/>
          <p:cNvSpPr txBox="1"/>
          <p:nvPr/>
        </p:nvSpPr>
        <p:spPr>
          <a:xfrm>
            <a:off x="7863840" y="5029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card-82"/>
          <p:cNvSpPr/>
          <p:nvPr/>
        </p:nvSpPr>
        <p:spPr>
          <a:xfrm>
            <a:off x="8046720" y="44348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5" name="badge-83"/>
          <p:cNvSpPr/>
          <p:nvPr/>
        </p:nvSpPr>
        <p:spPr>
          <a:xfrm>
            <a:off x="8275320" y="4617720"/>
            <a:ext cx="457200" cy="45720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26" name="text-84"/>
          <p:cNvSpPr txBox="1"/>
          <p:nvPr/>
        </p:nvSpPr>
        <p:spPr>
          <a:xfrm>
            <a:off x="82753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7" name="text-85"/>
          <p:cNvSpPr txBox="1"/>
          <p:nvPr/>
        </p:nvSpPr>
        <p:spPr>
          <a:xfrm>
            <a:off x="8915400" y="4617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Combine</a:t>
            </a:r>
            <a:endParaRPr lang="en-US" sz="1800" dirty="0"/>
          </a:p>
        </p:txBody>
      </p:sp>
      <p:sp>
        <p:nvSpPr>
          <p:cNvPr id="28" name="text-86"/>
          <p:cNvSpPr txBox="1"/>
          <p:nvPr/>
        </p:nvSpPr>
        <p:spPr>
          <a:xfrm>
            <a:off x="8275320" y="5257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C11, C12, C21, C22 using only additions and subtractions.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87"/>
          <p:cNvSpPr txBox="1"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UNIT 2  ·  WORKED EXAMPLE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Strassen on a 2 × 2 example</a:t>
            </a:r>
            <a:endParaRPr lang="en-US" sz="3400" dirty="0"/>
          </a:p>
        </p:txBody>
      </p:sp>
      <p:sp>
        <p:nvSpPr>
          <p:cNvPr id="5" name="image-card-88"/>
          <p:cNvSpPr/>
          <p:nvPr/>
        </p:nvSpPr>
        <p:spPr>
          <a:xfrm>
            <a:off x="685800" y="1463040"/>
            <a:ext cx="10796065" cy="4178808"/>
          </a:xfrm>
          <a:prstGeom prst="roundRect">
            <a:avLst>
              <a:gd name="adj" fmla="val 131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diagram-89" descr="Diagram: u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10613185" cy="3995928"/>
          </a:xfrm>
          <a:prstGeom prst="rect">
            <a:avLst/>
          </a:prstGeom>
        </p:spPr>
      </p:pic>
      <p:sp>
        <p:nvSpPr>
          <p:cNvPr id="7" name="card-90"/>
          <p:cNvSpPr/>
          <p:nvPr/>
        </p:nvSpPr>
        <p:spPr>
          <a:xfrm>
            <a:off x="548640" y="5760720"/>
            <a:ext cx="3566160" cy="594360"/>
          </a:xfrm>
          <a:prstGeom prst="roundRect">
            <a:avLst>
              <a:gd name="adj" fmla="val 12308"/>
            </a:avLst>
          </a:prstGeom>
          <a:solidFill>
            <a:srgbClr val="EEF3F8"/>
          </a:solidFill>
          <a:ln/>
        </p:spPr>
      </p:sp>
      <p:sp>
        <p:nvSpPr>
          <p:cNvPr id="8" name="text-91"/>
          <p:cNvSpPr txBox="1"/>
          <p:nvPr/>
        </p:nvSpPr>
        <p:spPr>
          <a:xfrm>
            <a:off x="685800" y="5760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Seven products: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M1 to M7 replace the usual eight multiplications.</a:t>
            </a:r>
            <a:endParaRPr lang="en-US" sz="1300" dirty="0"/>
          </a:p>
        </p:txBody>
      </p:sp>
      <p:sp>
        <p:nvSpPr>
          <p:cNvPr id="9" name="card-92"/>
          <p:cNvSpPr/>
          <p:nvPr/>
        </p:nvSpPr>
        <p:spPr>
          <a:xfrm>
            <a:off x="4297680" y="5760720"/>
            <a:ext cx="3566160" cy="594360"/>
          </a:xfrm>
          <a:prstGeom prst="roundRect">
            <a:avLst>
              <a:gd name="adj" fmla="val 12308"/>
            </a:avLst>
          </a:prstGeom>
          <a:solidFill>
            <a:srgbClr val="EEF3F8"/>
          </a:solidFill>
          <a:ln/>
        </p:spPr>
      </p:sp>
      <p:sp>
        <p:nvSpPr>
          <p:cNvPr id="10" name="text-93"/>
          <p:cNvSpPr txBox="1"/>
          <p:nvPr/>
        </p:nvSpPr>
        <p:spPr>
          <a:xfrm>
            <a:off x="4434840" y="5760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Cheap combining: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Each C block uses only additions and subtractions.</a:t>
            </a:r>
            <a:endParaRPr lang="en-US" sz="1300" dirty="0"/>
          </a:p>
        </p:txBody>
      </p:sp>
      <p:sp>
        <p:nvSpPr>
          <p:cNvPr id="11" name="card-94"/>
          <p:cNvSpPr/>
          <p:nvPr/>
        </p:nvSpPr>
        <p:spPr>
          <a:xfrm>
            <a:off x="8046720" y="5760720"/>
            <a:ext cx="3566160" cy="594360"/>
          </a:xfrm>
          <a:prstGeom prst="roundRect">
            <a:avLst>
              <a:gd name="adj" fmla="val 12308"/>
            </a:avLst>
          </a:prstGeom>
          <a:solidFill>
            <a:srgbClr val="EEF3F8"/>
          </a:solidFill>
          <a:ln/>
        </p:spPr>
      </p:sp>
      <p:sp>
        <p:nvSpPr>
          <p:cNvPr id="12" name="text-95"/>
          <p:cNvSpPr txBox="1"/>
          <p:nvPr/>
        </p:nvSpPr>
        <p:spPr>
          <a:xfrm>
            <a:off x="8183880" y="5760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Correct result: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 = [19 22; 43 50], the same as A × B.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96"/>
          <p:cNvSpPr txBox="1"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UNIT 3  ·  DYNAMIC PROGRAMMING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0/1 Knapsack problem</a:t>
            </a:r>
            <a:endParaRPr lang="en-US" sz="3400" dirty="0"/>
          </a:p>
        </p:txBody>
      </p:sp>
      <p:sp>
        <p:nvSpPr>
          <p:cNvPr id="5" name="card-97"/>
          <p:cNvSpPr/>
          <p:nvPr/>
        </p:nvSpPr>
        <p:spPr>
          <a:xfrm>
            <a:off x="548640" y="150876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EEF3F8"/>
          </a:solidFill>
          <a:ln/>
        </p:spPr>
      </p:sp>
      <p:sp>
        <p:nvSpPr>
          <p:cNvPr id="6" name="text-98"/>
          <p:cNvSpPr txBox="1"/>
          <p:nvPr/>
        </p:nvSpPr>
        <p:spPr>
          <a:xfrm>
            <a:off x="777240" y="164592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The problem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items, each taken whole or not at all, to maximise total profit without exceeding capacity W = 10.</a:t>
            </a:r>
            <a:endParaRPr lang="en-US" sz="1400" dirty="0"/>
          </a:p>
        </p:txBody>
      </p:sp>
      <p:graphicFrame>
        <p:nvGraphicFramePr>
          <p:cNvPr id="8" name="item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51206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Weight (w)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Profit (p)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</a:rPr>
                        <a:t>Item 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</a:rPr>
                        <a:t>Item 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</a:rPr>
                        <a:t>Item 3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</a:rPr>
                        <a:t>Item 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8" name="card-99"/>
          <p:cNvSpPr/>
          <p:nvPr/>
        </p:nvSpPr>
        <p:spPr>
          <a:xfrm>
            <a:off x="6035040" y="150876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12263F"/>
          </a:solidFill>
          <a:ln/>
        </p:spPr>
      </p:sp>
      <p:sp>
        <p:nvSpPr>
          <p:cNvPr id="9" name="text-100"/>
          <p:cNvSpPr txBox="1"/>
          <p:nvPr/>
        </p:nvSpPr>
        <p:spPr>
          <a:xfrm>
            <a:off x="630936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RECURRENCE</a:t>
            </a:r>
            <a:endParaRPr lang="en-US" sz="1200" dirty="0"/>
          </a:p>
        </p:txBody>
      </p:sp>
      <p:sp>
        <p:nvSpPr>
          <p:cNvPr id="10" name="text-101"/>
          <p:cNvSpPr txBox="1"/>
          <p:nvPr/>
        </p:nvSpPr>
        <p:spPr>
          <a:xfrm>
            <a:off x="6309360" y="2057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K[i][w] = max( K[i−1][w] ,  pᵢ + K[i−1][w − wᵢ] )</a:t>
            </a:r>
            <a:endParaRPr lang="en-US" sz="2000" dirty="0"/>
          </a:p>
        </p:txBody>
      </p:sp>
      <p:sp>
        <p:nvSpPr>
          <p:cNvPr id="11" name="text-102"/>
          <p:cNvSpPr txBox="1"/>
          <p:nvPr/>
        </p:nvSpPr>
        <p:spPr>
          <a:xfrm>
            <a:off x="6309360" y="26974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Exclude item i: K[i−1][w]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Include item i: pᵢ + K[i−1][w − wᵢ]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If wᵢ &gt; w, only exclude is possible</a:t>
            </a:r>
            <a:endParaRPr lang="en-US" sz="1400" dirty="0"/>
          </a:p>
        </p:txBody>
      </p:sp>
      <p:sp>
        <p:nvSpPr>
          <p:cNvPr id="12" name="card-103"/>
          <p:cNvSpPr/>
          <p:nvPr/>
        </p:nvSpPr>
        <p:spPr>
          <a:xfrm>
            <a:off x="6035040" y="38862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/>
        </p:spPr>
      </p:sp>
      <p:sp>
        <p:nvSpPr>
          <p:cNvPr id="13" name="text-104"/>
          <p:cNvSpPr txBox="1"/>
          <p:nvPr/>
        </p:nvSpPr>
        <p:spPr>
          <a:xfrm>
            <a:off x="6263640" y="4005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TIME</a:t>
            </a:r>
            <a:endParaRPr lang="en-US" sz="1200" dirty="0"/>
          </a:p>
        </p:txBody>
      </p:sp>
      <p:sp>
        <p:nvSpPr>
          <p:cNvPr id="14" name="text-105"/>
          <p:cNvSpPr txBox="1"/>
          <p:nvPr/>
        </p:nvSpPr>
        <p:spPr>
          <a:xfrm>
            <a:off x="6263640" y="4297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O(nW)</a:t>
            </a:r>
            <a:endParaRPr lang="en-US" sz="2800" dirty="0"/>
          </a:p>
        </p:txBody>
      </p:sp>
      <p:sp>
        <p:nvSpPr>
          <p:cNvPr id="15" name="card-106"/>
          <p:cNvSpPr/>
          <p:nvPr/>
        </p:nvSpPr>
        <p:spPr>
          <a:xfrm>
            <a:off x="8869680" y="38862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/>
        </p:spPr>
      </p:sp>
      <p:sp>
        <p:nvSpPr>
          <p:cNvPr id="16" name="text-107"/>
          <p:cNvSpPr txBox="1"/>
          <p:nvPr/>
        </p:nvSpPr>
        <p:spPr>
          <a:xfrm>
            <a:off x="9098280" y="4005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SPACE</a:t>
            </a:r>
            <a:endParaRPr lang="en-US" sz="1200" dirty="0"/>
          </a:p>
        </p:txBody>
      </p:sp>
      <p:sp>
        <p:nvSpPr>
          <p:cNvPr id="17" name="text-108"/>
          <p:cNvSpPr txBox="1"/>
          <p:nvPr/>
        </p:nvSpPr>
        <p:spPr>
          <a:xfrm>
            <a:off x="9098280" y="4297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O(nW)</a:t>
            </a:r>
            <a:endParaRPr lang="en-US" sz="2800" dirty="0"/>
          </a:p>
        </p:txBody>
      </p:sp>
      <p:sp>
        <p:nvSpPr>
          <p:cNvPr id="18" name="card-109"/>
          <p:cNvSpPr/>
          <p:nvPr/>
        </p:nvSpPr>
        <p:spPr>
          <a:xfrm>
            <a:off x="6035040" y="5212080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E4EEFA"/>
          </a:solidFill>
          <a:ln/>
        </p:spPr>
      </p:sp>
      <p:sp>
        <p:nvSpPr>
          <p:cNvPr id="19" name="text-110"/>
          <p:cNvSpPr txBox="1"/>
          <p:nvPr/>
        </p:nvSpPr>
        <p:spPr>
          <a:xfrm>
            <a:off x="6263640" y="52120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Why DP?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Subproblems repeat, and the best answer for n items is built from best answers for n−1 items.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11"/>
          <p:cNvSpPr txBox="1"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UNIT 3  ·  DP TABLE AND TRACEBACK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Filling the table, finding the items</a:t>
            </a:r>
            <a:endParaRPr lang="en-US" sz="3400" dirty="0"/>
          </a:p>
        </p:txBody>
      </p:sp>
      <p:sp>
        <p:nvSpPr>
          <p:cNvPr id="5" name="image-card-112"/>
          <p:cNvSpPr/>
          <p:nvPr/>
        </p:nvSpPr>
        <p:spPr>
          <a:xfrm>
            <a:off x="548640" y="1463040"/>
            <a:ext cx="4468581" cy="4846320"/>
          </a:xfrm>
          <a:prstGeom prst="roundRect">
            <a:avLst>
              <a:gd name="adj" fmla="val 1228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diagram-113" descr="Diagram: u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4285701" cy="4663440"/>
          </a:xfrm>
          <a:prstGeom prst="rect">
            <a:avLst/>
          </a:prstGeom>
        </p:spPr>
      </p:pic>
      <p:sp>
        <p:nvSpPr>
          <p:cNvPr id="7" name="card-114"/>
          <p:cNvSpPr/>
          <p:nvPr/>
        </p:nvSpPr>
        <p:spPr>
          <a:xfrm>
            <a:off x="5486400" y="1508760"/>
            <a:ext cx="6126480" cy="1234440"/>
          </a:xfrm>
          <a:prstGeom prst="roundRect">
            <a:avLst>
              <a:gd name="adj" fmla="val 5926"/>
            </a:avLst>
          </a:prstGeom>
          <a:solidFill>
            <a:srgbClr val="EEF3F8"/>
          </a:solidFill>
          <a:ln/>
        </p:spPr>
      </p:sp>
      <p:sp>
        <p:nvSpPr>
          <p:cNvPr id="8" name="text-115"/>
          <p:cNvSpPr txBox="1"/>
          <p:nvPr/>
        </p:nvSpPr>
        <p:spPr>
          <a:xfrm>
            <a:off x="5669280" y="160020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How to read 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K[i][w] is the best profit using the first i items with capacity w. Each cell compares exclude with include and keeps the larger.</a:t>
            </a:r>
            <a:endParaRPr lang="en-US" sz="1400" dirty="0"/>
          </a:p>
        </p:txBody>
      </p:sp>
      <p:sp>
        <p:nvSpPr>
          <p:cNvPr id="9" name="card-116"/>
          <p:cNvSpPr/>
          <p:nvPr/>
        </p:nvSpPr>
        <p:spPr>
          <a:xfrm>
            <a:off x="5486400" y="292608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E0F2EA"/>
          </a:solidFill>
          <a:ln/>
        </p:spPr>
      </p:sp>
      <p:sp>
        <p:nvSpPr>
          <p:cNvPr id="10" name="text-117"/>
          <p:cNvSpPr txBox="1"/>
          <p:nvPr/>
        </p:nvSpPr>
        <p:spPr>
          <a:xfrm>
            <a:off x="5623560" y="3017520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E6B45"/>
                </a:solidFill>
              </a:rPr>
              <a:t>K[2][5] = 7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Exclude 3, include 4 + K[1][2] = 7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6B45"/>
                </a:solidFill>
              </a:rPr>
              <a:t>→ INCLUDE</a:t>
            </a:r>
            <a:endParaRPr lang="en-US" sz="1400" dirty="0"/>
          </a:p>
        </p:txBody>
      </p:sp>
      <p:sp>
        <p:nvSpPr>
          <p:cNvPr id="11" name="card-118"/>
          <p:cNvSpPr/>
          <p:nvPr/>
        </p:nvSpPr>
        <p:spPr>
          <a:xfrm>
            <a:off x="7589520" y="292608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FBEFD8"/>
          </a:solidFill>
          <a:ln/>
        </p:spPr>
      </p:sp>
      <p:sp>
        <p:nvSpPr>
          <p:cNvPr id="12" name="text-119"/>
          <p:cNvSpPr txBox="1"/>
          <p:nvPr/>
        </p:nvSpPr>
        <p:spPr>
          <a:xfrm>
            <a:off x="7726680" y="3017520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8A5A00"/>
                </a:solidFill>
              </a:rPr>
              <a:t>K[3][5] = 7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Exclude 7, include 5 + K[2][1] = 5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8A5A00"/>
                </a:solidFill>
              </a:rPr>
              <a:t>→ EXCLUDE</a:t>
            </a:r>
            <a:endParaRPr lang="en-US" sz="1400" dirty="0"/>
          </a:p>
        </p:txBody>
      </p:sp>
      <p:sp>
        <p:nvSpPr>
          <p:cNvPr id="13" name="card-120"/>
          <p:cNvSpPr/>
          <p:nvPr/>
        </p:nvSpPr>
        <p:spPr>
          <a:xfrm>
            <a:off x="9692640" y="292608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E4EEFA"/>
          </a:solidFill>
          <a:ln/>
        </p:spPr>
      </p:sp>
      <p:sp>
        <p:nvSpPr>
          <p:cNvPr id="14" name="text-121"/>
          <p:cNvSpPr txBox="1"/>
          <p:nvPr/>
        </p:nvSpPr>
        <p:spPr>
          <a:xfrm>
            <a:off x="9829800" y="3017520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5FA8"/>
                </a:solidFill>
              </a:rPr>
              <a:t>K[4][10] = 13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Exclude 12, include 6 + K[3][5] = 13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F5FA8"/>
                </a:solidFill>
              </a:rPr>
              <a:t>→ INCLUDE</a:t>
            </a:r>
            <a:endParaRPr lang="en-US" sz="1400" dirty="0"/>
          </a:p>
        </p:txBody>
      </p:sp>
      <p:sp>
        <p:nvSpPr>
          <p:cNvPr id="15" name="card-122"/>
          <p:cNvSpPr/>
          <p:nvPr/>
        </p:nvSpPr>
        <p:spPr>
          <a:xfrm>
            <a:off x="5486400" y="4892040"/>
            <a:ext cx="6126480" cy="1325880"/>
          </a:xfrm>
          <a:prstGeom prst="roundRect">
            <a:avLst>
              <a:gd name="adj" fmla="val 5517"/>
            </a:avLst>
          </a:prstGeom>
          <a:solidFill>
            <a:srgbClr val="12263F"/>
          </a:solidFill>
          <a:ln/>
        </p:spPr>
      </p:sp>
      <p:sp>
        <p:nvSpPr>
          <p:cNvPr id="16" name="text-123"/>
          <p:cNvSpPr txBox="1"/>
          <p:nvPr/>
        </p:nvSpPr>
        <p:spPr>
          <a:xfrm>
            <a:off x="5715000" y="498348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Traceback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K[4][10] → K[3][5] → K[2][5] → K[1][2] → K[0][0]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Optimal: Items 1 + 2 + 4  |  weight 10  |  profit 13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24"/>
          <p:cNvSpPr txBox="1"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UNIT 4  ·  BACKTRACKING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N-Queens problem</a:t>
            </a:r>
            <a:endParaRPr lang="en-US" sz="3400" dirty="0"/>
          </a:p>
        </p:txBody>
      </p:sp>
      <p:sp>
        <p:nvSpPr>
          <p:cNvPr id="5" name="card-125"/>
          <p:cNvSpPr/>
          <p:nvPr/>
        </p:nvSpPr>
        <p:spPr>
          <a:xfrm>
            <a:off x="548640" y="15087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EEF3F8"/>
          </a:solidFill>
          <a:ln/>
        </p:spPr>
      </p:sp>
      <p:sp>
        <p:nvSpPr>
          <p:cNvPr id="6" name="text-126"/>
          <p:cNvSpPr txBox="1"/>
          <p:nvPr/>
        </p:nvSpPr>
        <p:spPr>
          <a:xfrm>
            <a:off x="777240" y="164592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The problem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Place N queens on an N × N board so that no two share a row, a column or a diagonal.</a:t>
            </a:r>
            <a:endParaRPr lang="en-US" sz="1400" dirty="0"/>
          </a:p>
        </p:txBody>
      </p:sp>
      <p:sp>
        <p:nvSpPr>
          <p:cNvPr id="7" name="board-cell-127"/>
          <p:cNvSpPr/>
          <p:nvPr/>
        </p:nvSpPr>
        <p:spPr>
          <a:xfrm>
            <a:off x="548640" y="3383280"/>
            <a:ext cx="658368" cy="658368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oard-cell-128"/>
          <p:cNvSpPr/>
          <p:nvPr/>
        </p:nvSpPr>
        <p:spPr>
          <a:xfrm>
            <a:off x="1207008" y="3383280"/>
            <a:ext cx="658368" cy="658368"/>
          </a:xfrm>
          <a:prstGeom prst="rect">
            <a:avLst/>
          </a:prstGeom>
          <a:solidFill>
            <a:srgbClr val="C9D6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badge-129"/>
          <p:cNvSpPr/>
          <p:nvPr/>
        </p:nvSpPr>
        <p:spPr>
          <a:xfrm>
            <a:off x="1298448" y="3474720"/>
            <a:ext cx="475488" cy="475488"/>
          </a:xfrm>
          <a:prstGeom prst="ellipse">
            <a:avLst/>
          </a:prstGeom>
          <a:solidFill>
            <a:srgbClr val="12263F"/>
          </a:solidFill>
          <a:ln/>
        </p:spPr>
      </p:sp>
      <p:sp>
        <p:nvSpPr>
          <p:cNvPr id="10" name="text-130"/>
          <p:cNvSpPr txBox="1"/>
          <p:nvPr/>
        </p:nvSpPr>
        <p:spPr>
          <a:xfrm>
            <a:off x="1298448" y="3474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Q</a:t>
            </a:r>
            <a:endParaRPr lang="en-US" sz="1600" dirty="0"/>
          </a:p>
        </p:txBody>
      </p:sp>
      <p:sp>
        <p:nvSpPr>
          <p:cNvPr id="11" name="board-cell-131"/>
          <p:cNvSpPr/>
          <p:nvPr/>
        </p:nvSpPr>
        <p:spPr>
          <a:xfrm>
            <a:off x="1865376" y="3383280"/>
            <a:ext cx="658368" cy="658368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board-cell-132"/>
          <p:cNvSpPr/>
          <p:nvPr/>
        </p:nvSpPr>
        <p:spPr>
          <a:xfrm>
            <a:off x="2523744" y="3383280"/>
            <a:ext cx="658368" cy="658368"/>
          </a:xfrm>
          <a:prstGeom prst="rect">
            <a:avLst/>
          </a:prstGeom>
          <a:solidFill>
            <a:srgbClr val="C9D6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board-cell-133"/>
          <p:cNvSpPr/>
          <p:nvPr/>
        </p:nvSpPr>
        <p:spPr>
          <a:xfrm>
            <a:off x="548640" y="4041648"/>
            <a:ext cx="658368" cy="658368"/>
          </a:xfrm>
          <a:prstGeom prst="rect">
            <a:avLst/>
          </a:prstGeom>
          <a:solidFill>
            <a:srgbClr val="C9D6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board-cell-134"/>
          <p:cNvSpPr/>
          <p:nvPr/>
        </p:nvSpPr>
        <p:spPr>
          <a:xfrm>
            <a:off x="1207008" y="4041648"/>
            <a:ext cx="658368" cy="658368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board-cell-135"/>
          <p:cNvSpPr/>
          <p:nvPr/>
        </p:nvSpPr>
        <p:spPr>
          <a:xfrm>
            <a:off x="1865376" y="4041648"/>
            <a:ext cx="658368" cy="658368"/>
          </a:xfrm>
          <a:prstGeom prst="rect">
            <a:avLst/>
          </a:prstGeom>
          <a:solidFill>
            <a:srgbClr val="C9D6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board-cell-136"/>
          <p:cNvSpPr/>
          <p:nvPr/>
        </p:nvSpPr>
        <p:spPr>
          <a:xfrm>
            <a:off x="2523744" y="4041648"/>
            <a:ext cx="658368" cy="658368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badge-137"/>
          <p:cNvSpPr/>
          <p:nvPr/>
        </p:nvSpPr>
        <p:spPr>
          <a:xfrm>
            <a:off x="2615184" y="4133088"/>
            <a:ext cx="475488" cy="475488"/>
          </a:xfrm>
          <a:prstGeom prst="ellipse">
            <a:avLst/>
          </a:prstGeom>
          <a:solidFill>
            <a:srgbClr val="12263F"/>
          </a:solidFill>
          <a:ln/>
        </p:spPr>
      </p:sp>
      <p:sp>
        <p:nvSpPr>
          <p:cNvPr id="18" name="text-138"/>
          <p:cNvSpPr txBox="1"/>
          <p:nvPr/>
        </p:nvSpPr>
        <p:spPr>
          <a:xfrm>
            <a:off x="2615184" y="4133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Q</a:t>
            </a:r>
            <a:endParaRPr lang="en-US" sz="1600" dirty="0"/>
          </a:p>
        </p:txBody>
      </p:sp>
      <p:sp>
        <p:nvSpPr>
          <p:cNvPr id="19" name="board-cell-139"/>
          <p:cNvSpPr/>
          <p:nvPr/>
        </p:nvSpPr>
        <p:spPr>
          <a:xfrm>
            <a:off x="548640" y="4700016"/>
            <a:ext cx="658368" cy="658368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badge-140"/>
          <p:cNvSpPr/>
          <p:nvPr/>
        </p:nvSpPr>
        <p:spPr>
          <a:xfrm>
            <a:off x="640080" y="4791456"/>
            <a:ext cx="475488" cy="475488"/>
          </a:xfrm>
          <a:prstGeom prst="ellipse">
            <a:avLst/>
          </a:prstGeom>
          <a:solidFill>
            <a:srgbClr val="12263F"/>
          </a:solidFill>
          <a:ln/>
        </p:spPr>
      </p:sp>
      <p:sp>
        <p:nvSpPr>
          <p:cNvPr id="21" name="text-141"/>
          <p:cNvSpPr txBox="1"/>
          <p:nvPr/>
        </p:nvSpPr>
        <p:spPr>
          <a:xfrm>
            <a:off x="640080" y="4791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Q</a:t>
            </a:r>
            <a:endParaRPr lang="en-US" sz="1600" dirty="0"/>
          </a:p>
        </p:txBody>
      </p:sp>
      <p:sp>
        <p:nvSpPr>
          <p:cNvPr id="22" name="board-cell-142"/>
          <p:cNvSpPr/>
          <p:nvPr/>
        </p:nvSpPr>
        <p:spPr>
          <a:xfrm>
            <a:off x="1207008" y="4700016"/>
            <a:ext cx="658368" cy="658368"/>
          </a:xfrm>
          <a:prstGeom prst="rect">
            <a:avLst/>
          </a:prstGeom>
          <a:solidFill>
            <a:srgbClr val="C9D6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board-cell-143"/>
          <p:cNvSpPr/>
          <p:nvPr/>
        </p:nvSpPr>
        <p:spPr>
          <a:xfrm>
            <a:off x="1865376" y="4700016"/>
            <a:ext cx="658368" cy="658368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board-cell-144"/>
          <p:cNvSpPr/>
          <p:nvPr/>
        </p:nvSpPr>
        <p:spPr>
          <a:xfrm>
            <a:off x="2523744" y="4700016"/>
            <a:ext cx="658368" cy="658368"/>
          </a:xfrm>
          <a:prstGeom prst="rect">
            <a:avLst/>
          </a:prstGeom>
          <a:solidFill>
            <a:srgbClr val="C9D6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board-cell-145"/>
          <p:cNvSpPr/>
          <p:nvPr/>
        </p:nvSpPr>
        <p:spPr>
          <a:xfrm>
            <a:off x="548640" y="5358384"/>
            <a:ext cx="658368" cy="658368"/>
          </a:xfrm>
          <a:prstGeom prst="rect">
            <a:avLst/>
          </a:prstGeom>
          <a:solidFill>
            <a:srgbClr val="C9D6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board-cell-146"/>
          <p:cNvSpPr/>
          <p:nvPr/>
        </p:nvSpPr>
        <p:spPr>
          <a:xfrm>
            <a:off x="1207008" y="5358384"/>
            <a:ext cx="658368" cy="658368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board-cell-147"/>
          <p:cNvSpPr/>
          <p:nvPr/>
        </p:nvSpPr>
        <p:spPr>
          <a:xfrm>
            <a:off x="1865376" y="5358384"/>
            <a:ext cx="658368" cy="658368"/>
          </a:xfrm>
          <a:prstGeom prst="rect">
            <a:avLst/>
          </a:prstGeom>
          <a:solidFill>
            <a:srgbClr val="C9D6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badge-148"/>
          <p:cNvSpPr/>
          <p:nvPr/>
        </p:nvSpPr>
        <p:spPr>
          <a:xfrm>
            <a:off x="1956816" y="5449824"/>
            <a:ext cx="475488" cy="475488"/>
          </a:xfrm>
          <a:prstGeom prst="ellipse">
            <a:avLst/>
          </a:prstGeom>
          <a:solidFill>
            <a:srgbClr val="12263F"/>
          </a:solidFill>
          <a:ln/>
        </p:spPr>
      </p:sp>
      <p:sp>
        <p:nvSpPr>
          <p:cNvPr id="29" name="text-149"/>
          <p:cNvSpPr txBox="1"/>
          <p:nvPr/>
        </p:nvSpPr>
        <p:spPr>
          <a:xfrm>
            <a:off x="1956816" y="5449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Q</a:t>
            </a:r>
            <a:endParaRPr lang="en-US" sz="1600" dirty="0"/>
          </a:p>
        </p:txBody>
      </p:sp>
      <p:sp>
        <p:nvSpPr>
          <p:cNvPr id="30" name="board-cell-150"/>
          <p:cNvSpPr/>
          <p:nvPr/>
        </p:nvSpPr>
        <p:spPr>
          <a:xfrm>
            <a:off x="2523744" y="5358384"/>
            <a:ext cx="658368" cy="658368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-151"/>
          <p:cNvSpPr txBox="1"/>
          <p:nvPr/>
        </p:nvSpPr>
        <p:spPr>
          <a:xfrm>
            <a:off x="3383280" y="352044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One valid solution for N = 4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Queens in columns 2, 4, 1, 3 (rows 1 to 4). No two attack each other.</a:t>
            </a:r>
            <a:endParaRPr lang="en-US" sz="1400" dirty="0"/>
          </a:p>
        </p:txBody>
      </p:sp>
      <p:sp>
        <p:nvSpPr>
          <p:cNvPr id="32" name="text-152"/>
          <p:cNvSpPr txBox="1"/>
          <p:nvPr/>
        </p:nvSpPr>
        <p:spPr>
          <a:xfrm>
            <a:off x="548640" y="6080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Worst case: O(N!)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Pruning removes most of it.</a:t>
            </a:r>
            <a:endParaRPr lang="en-US" sz="1300" dirty="0"/>
          </a:p>
        </p:txBody>
      </p:sp>
      <p:sp>
        <p:nvSpPr>
          <p:cNvPr id="33" name="card-153"/>
          <p:cNvSpPr/>
          <p:nvPr/>
        </p:nvSpPr>
        <p:spPr>
          <a:xfrm>
            <a:off x="6035040" y="150876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34" name="badge-154"/>
          <p:cNvSpPr/>
          <p:nvPr/>
        </p:nvSpPr>
        <p:spPr>
          <a:xfrm>
            <a:off x="6263640" y="1801368"/>
            <a:ext cx="457200" cy="45720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35" name="text-155"/>
          <p:cNvSpPr txBox="1"/>
          <p:nvPr/>
        </p:nvSpPr>
        <p:spPr>
          <a:xfrm>
            <a:off x="626364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36" name="text-156"/>
          <p:cNvSpPr txBox="1"/>
          <p:nvPr/>
        </p:nvSpPr>
        <p:spPr>
          <a:xfrm>
            <a:off x="6949440" y="161848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Place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Put a queen in the next row and try each column in turn.</a:t>
            </a:r>
            <a:endParaRPr lang="en-US" sz="1400" dirty="0"/>
          </a:p>
        </p:txBody>
      </p:sp>
      <p:sp>
        <p:nvSpPr>
          <p:cNvPr id="37" name="card-157"/>
          <p:cNvSpPr/>
          <p:nvPr/>
        </p:nvSpPr>
        <p:spPr>
          <a:xfrm>
            <a:off x="6035040" y="269748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38" name="badge-158"/>
          <p:cNvSpPr/>
          <p:nvPr/>
        </p:nvSpPr>
        <p:spPr>
          <a:xfrm>
            <a:off x="6263640" y="2990088"/>
            <a:ext cx="457200" cy="45720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39" name="text-159"/>
          <p:cNvSpPr txBox="1"/>
          <p:nvPr/>
        </p:nvSpPr>
        <p:spPr>
          <a:xfrm>
            <a:off x="626364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40" name="text-160"/>
          <p:cNvSpPr txBox="1"/>
          <p:nvPr/>
        </p:nvSpPr>
        <p:spPr>
          <a:xfrm>
            <a:off x="6949440" y="28072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Check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Reject the cell if the column or either diagonal already has a queen.</a:t>
            </a:r>
            <a:endParaRPr lang="en-US" sz="1400" dirty="0"/>
          </a:p>
        </p:txBody>
      </p:sp>
      <p:sp>
        <p:nvSpPr>
          <p:cNvPr id="41" name="card-161"/>
          <p:cNvSpPr/>
          <p:nvPr/>
        </p:nvSpPr>
        <p:spPr>
          <a:xfrm>
            <a:off x="6035040" y="388620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42" name="badge-162"/>
          <p:cNvSpPr/>
          <p:nvPr/>
        </p:nvSpPr>
        <p:spPr>
          <a:xfrm>
            <a:off x="6263640" y="4178808"/>
            <a:ext cx="457200" cy="45720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43" name="text-163"/>
          <p:cNvSpPr txBox="1"/>
          <p:nvPr/>
        </p:nvSpPr>
        <p:spPr>
          <a:xfrm>
            <a:off x="626364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44" name="text-164"/>
          <p:cNvSpPr txBox="1"/>
          <p:nvPr/>
        </p:nvSpPr>
        <p:spPr>
          <a:xfrm>
            <a:off x="6949440" y="399592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Go deeper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the cell is safe, move on to the next row and repeat.</a:t>
            </a:r>
            <a:endParaRPr lang="en-US" sz="1400" dirty="0"/>
          </a:p>
        </p:txBody>
      </p:sp>
      <p:sp>
        <p:nvSpPr>
          <p:cNvPr id="45" name="card-165"/>
          <p:cNvSpPr/>
          <p:nvPr/>
        </p:nvSpPr>
        <p:spPr>
          <a:xfrm>
            <a:off x="6035040" y="507492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E4EEFA"/>
          </a:solidFill>
          <a:ln/>
        </p:spPr>
      </p:sp>
      <p:sp>
        <p:nvSpPr>
          <p:cNvPr id="46" name="badge-166"/>
          <p:cNvSpPr/>
          <p:nvPr/>
        </p:nvSpPr>
        <p:spPr>
          <a:xfrm>
            <a:off x="6263640" y="5367528"/>
            <a:ext cx="457200" cy="457200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47" name="text-167"/>
          <p:cNvSpPr txBox="1"/>
          <p:nvPr/>
        </p:nvSpPr>
        <p:spPr>
          <a:xfrm>
            <a:off x="626364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48" name="text-168"/>
          <p:cNvSpPr txBox="1"/>
          <p:nvPr/>
        </p:nvSpPr>
        <p:spPr>
          <a:xfrm>
            <a:off x="6949440" y="518464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Backtrack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no column in a row is safe, undo the last queen and try its next column.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69"/>
          <p:cNvSpPr txBox="1"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UNIT 4  ·  STATE SPACE TREE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Search tree for N = 4</a:t>
            </a:r>
            <a:endParaRPr lang="en-US" sz="3400" dirty="0"/>
          </a:p>
        </p:txBody>
      </p:sp>
      <p:sp>
        <p:nvSpPr>
          <p:cNvPr id="5" name="image-card-170"/>
          <p:cNvSpPr/>
          <p:nvPr/>
        </p:nvSpPr>
        <p:spPr>
          <a:xfrm>
            <a:off x="548640" y="1463040"/>
            <a:ext cx="7178040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diagram-171" descr="Diagram: u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995160" cy="4663440"/>
          </a:xfrm>
          <a:prstGeom prst="rect">
            <a:avLst/>
          </a:prstGeom>
        </p:spPr>
      </p:pic>
      <p:sp>
        <p:nvSpPr>
          <p:cNvPr id="7" name="card-172"/>
          <p:cNvSpPr/>
          <p:nvPr/>
        </p:nvSpPr>
        <p:spPr>
          <a:xfrm>
            <a:off x="8138160" y="150876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/>
        </p:spPr>
      </p:sp>
      <p:sp>
        <p:nvSpPr>
          <p:cNvPr id="8" name="text-173"/>
          <p:cNvSpPr txBox="1"/>
          <p:nvPr/>
        </p:nvSpPr>
        <p:spPr>
          <a:xfrm>
            <a:off x="8321040" y="16002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Reading the tree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Green: valid choice. Red: pruned branch. Blue arrows: backtracking.</a:t>
            </a:r>
            <a:endParaRPr lang="en-US" sz="1400" dirty="0"/>
          </a:p>
        </p:txBody>
      </p:sp>
      <p:sp>
        <p:nvSpPr>
          <p:cNvPr id="9" name="card-174"/>
          <p:cNvSpPr/>
          <p:nvPr/>
        </p:nvSpPr>
        <p:spPr>
          <a:xfrm>
            <a:off x="8138160" y="31546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E0F2EA"/>
          </a:solidFill>
          <a:ln/>
        </p:spPr>
      </p:sp>
      <p:sp>
        <p:nvSpPr>
          <p:cNvPr id="10" name="text-175"/>
          <p:cNvSpPr txBox="1"/>
          <p:nvPr/>
        </p:nvSpPr>
        <p:spPr>
          <a:xfrm>
            <a:off x="8321040" y="32461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6B45"/>
                </a:solidFill>
              </a:rPr>
              <a:t>Two solutions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Columns 2, 4, 1, 3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Columns 3, 1, 4, 2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Mirror images of each other.</a:t>
            </a:r>
            <a:endParaRPr lang="en-US" sz="1400" dirty="0"/>
          </a:p>
        </p:txBody>
      </p:sp>
      <p:sp>
        <p:nvSpPr>
          <p:cNvPr id="11" name="card-176"/>
          <p:cNvSpPr/>
          <p:nvPr/>
        </p:nvSpPr>
        <p:spPr>
          <a:xfrm>
            <a:off x="8138160" y="516636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12263F"/>
          </a:solidFill>
          <a:ln/>
        </p:spPr>
      </p:sp>
      <p:sp>
        <p:nvSpPr>
          <p:cNvPr id="12" name="text-177"/>
          <p:cNvSpPr txBox="1"/>
          <p:nvPr/>
        </p:nvSpPr>
        <p:spPr>
          <a:xfrm>
            <a:off x="8321040" y="51663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Pruning cuts off a branch as soon as a conflict appears.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78"/>
          <p:cNvSpPr txBox="1"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UNIT 5  ·  BRANCH AND BOUND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Travelling salesman problem</a:t>
            </a:r>
            <a:endParaRPr lang="en-US" sz="3400" dirty="0"/>
          </a:p>
        </p:txBody>
      </p:sp>
      <p:sp>
        <p:nvSpPr>
          <p:cNvPr id="5" name="card-179"/>
          <p:cNvSpPr/>
          <p:nvPr/>
        </p:nvSpPr>
        <p:spPr>
          <a:xfrm>
            <a:off x="548640" y="150876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/>
        </p:spPr>
      </p:sp>
      <p:sp>
        <p:nvSpPr>
          <p:cNvPr id="6" name="text-180"/>
          <p:cNvSpPr txBox="1"/>
          <p:nvPr/>
        </p:nvSpPr>
        <p:spPr>
          <a:xfrm>
            <a:off x="777240" y="1627632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The problem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the cheapest tour that visits cities A, B, C, D once each and returns to A.</a:t>
            </a:r>
            <a:endParaRPr lang="en-US" sz="1400" dirty="0"/>
          </a:p>
        </p:txBody>
      </p:sp>
      <p:graphicFrame>
        <p:nvGraphicFramePr>
          <p:cNvPr id="12" name="cost-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005840"/>
                <a:gridCol w="1005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263F"/>
                          </a:solidFill>
                        </a:rPr>
                        <a:t>A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AA8B8"/>
                          </a:solidFill>
                        </a:rPr>
                        <a:t>–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15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20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263F"/>
                          </a:solidFill>
                        </a:rPr>
                        <a:t>B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AA8B8"/>
                          </a:solidFill>
                        </a:rPr>
                        <a:t>–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35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25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263F"/>
                          </a:solidFill>
                        </a:rPr>
                        <a:t>C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15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35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AA8B8"/>
                          </a:solidFill>
                        </a:rPr>
                        <a:t>–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30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263F"/>
                          </a:solidFill>
                        </a:rPr>
                        <a:t>D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20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25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30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AA8B8"/>
                          </a:solidFill>
                        </a:rPr>
                        <a:t>–</a:t>
                      </a:r>
                      <a:endParaRPr lang="en-US" sz="1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181"/>
          <p:cNvSpPr txBox="1"/>
          <p:nvPr/>
        </p:nvSpPr>
        <p:spPr>
          <a:xfrm>
            <a:off x="548640" y="5623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Edge costs as used in the search tree.</a:t>
            </a:r>
            <a:endParaRPr lang="en-US" sz="1200" dirty="0"/>
          </a:p>
        </p:txBody>
      </p:sp>
      <p:sp>
        <p:nvSpPr>
          <p:cNvPr id="9" name="card-182"/>
          <p:cNvSpPr/>
          <p:nvPr/>
        </p:nvSpPr>
        <p:spPr>
          <a:xfrm>
            <a:off x="6035040" y="150876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10" name="badge-183"/>
          <p:cNvSpPr/>
          <p:nvPr/>
        </p:nvSpPr>
        <p:spPr>
          <a:xfrm>
            <a:off x="6263640" y="1801368"/>
            <a:ext cx="457200" cy="45720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11" name="text-184"/>
          <p:cNvSpPr txBox="1"/>
          <p:nvPr/>
        </p:nvSpPr>
        <p:spPr>
          <a:xfrm>
            <a:off x="626364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-185"/>
          <p:cNvSpPr txBox="1"/>
          <p:nvPr/>
        </p:nvSpPr>
        <p:spPr>
          <a:xfrm>
            <a:off x="6949440" y="161848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Branch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Extend the partial tour by one unvisited city.</a:t>
            </a:r>
            <a:endParaRPr lang="en-US" sz="1400" dirty="0"/>
          </a:p>
        </p:txBody>
      </p:sp>
      <p:sp>
        <p:nvSpPr>
          <p:cNvPr id="13" name="card-186"/>
          <p:cNvSpPr/>
          <p:nvPr/>
        </p:nvSpPr>
        <p:spPr>
          <a:xfrm>
            <a:off x="6035040" y="269748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14" name="badge-187"/>
          <p:cNvSpPr/>
          <p:nvPr/>
        </p:nvSpPr>
        <p:spPr>
          <a:xfrm>
            <a:off x="6263640" y="2990088"/>
            <a:ext cx="457200" cy="45720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15" name="text-188"/>
          <p:cNvSpPr txBox="1"/>
          <p:nvPr/>
        </p:nvSpPr>
        <p:spPr>
          <a:xfrm>
            <a:off x="626364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-189"/>
          <p:cNvSpPr txBox="1"/>
          <p:nvPr/>
        </p:nvSpPr>
        <p:spPr>
          <a:xfrm>
            <a:off x="6949440" y="28072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Bound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bound = cost so far + cheapest possible way to finish the tour.</a:t>
            </a:r>
            <a:endParaRPr lang="en-US" sz="1400" dirty="0"/>
          </a:p>
        </p:txBody>
      </p:sp>
      <p:sp>
        <p:nvSpPr>
          <p:cNvPr id="17" name="card-190"/>
          <p:cNvSpPr/>
          <p:nvPr/>
        </p:nvSpPr>
        <p:spPr>
          <a:xfrm>
            <a:off x="6035040" y="388620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18" name="badge-191"/>
          <p:cNvSpPr/>
          <p:nvPr/>
        </p:nvSpPr>
        <p:spPr>
          <a:xfrm>
            <a:off x="6263640" y="4178808"/>
            <a:ext cx="457200" cy="45720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19" name="text-192"/>
          <p:cNvSpPr txBox="1"/>
          <p:nvPr/>
        </p:nvSpPr>
        <p:spPr>
          <a:xfrm>
            <a:off x="626364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-193"/>
          <p:cNvSpPr txBox="1"/>
          <p:nvPr/>
        </p:nvSpPr>
        <p:spPr>
          <a:xfrm>
            <a:off x="6949440" y="399592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Discard a branch when its bound is not below the best complete tour found.</a:t>
            </a:r>
            <a:endParaRPr lang="en-US" sz="1400" dirty="0"/>
          </a:p>
        </p:txBody>
      </p:sp>
      <p:sp>
        <p:nvSpPr>
          <p:cNvPr id="21" name="card-194"/>
          <p:cNvSpPr/>
          <p:nvPr/>
        </p:nvSpPr>
        <p:spPr>
          <a:xfrm>
            <a:off x="6035040" y="507492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22" name="badge-195"/>
          <p:cNvSpPr/>
          <p:nvPr/>
        </p:nvSpPr>
        <p:spPr>
          <a:xfrm>
            <a:off x="6263640" y="5367528"/>
            <a:ext cx="457200" cy="45720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23" name="text-196"/>
          <p:cNvSpPr txBox="1"/>
          <p:nvPr/>
        </p:nvSpPr>
        <p:spPr>
          <a:xfrm>
            <a:off x="626364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-197"/>
          <p:cNvSpPr txBox="1"/>
          <p:nvPr/>
        </p:nvSpPr>
        <p:spPr>
          <a:xfrm>
            <a:off x="6949440" y="518464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Best first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Always expand the node with the smallest bound next.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98"/>
          <p:cNvSpPr txBox="1"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UNIT 5  ·  SEARCH TREE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Branch and bound on four cities</a:t>
            </a:r>
            <a:endParaRPr lang="en-US" sz="3400" dirty="0"/>
          </a:p>
        </p:txBody>
      </p:sp>
      <p:sp>
        <p:nvSpPr>
          <p:cNvPr id="5" name="image-card-199"/>
          <p:cNvSpPr/>
          <p:nvPr/>
        </p:nvSpPr>
        <p:spPr>
          <a:xfrm>
            <a:off x="548640" y="1508760"/>
            <a:ext cx="7221245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diagram-200" descr="Diagram: u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7038365" cy="4526280"/>
          </a:xfrm>
          <a:prstGeom prst="rect">
            <a:avLst/>
          </a:prstGeom>
        </p:spPr>
      </p:pic>
      <p:sp>
        <p:nvSpPr>
          <p:cNvPr id="7" name="card-201"/>
          <p:cNvSpPr/>
          <p:nvPr/>
        </p:nvSpPr>
        <p:spPr>
          <a:xfrm>
            <a:off x="8181365" y="1508760"/>
            <a:ext cx="3431515" cy="1078992"/>
          </a:xfrm>
          <a:prstGeom prst="roundRect">
            <a:avLst>
              <a:gd name="adj" fmla="val 6780"/>
            </a:avLst>
          </a:prstGeom>
          <a:solidFill>
            <a:srgbClr val="EEF3F8"/>
          </a:solidFill>
          <a:ln/>
        </p:spPr>
      </p:sp>
      <p:sp>
        <p:nvSpPr>
          <p:cNvPr id="8" name="text-202"/>
          <p:cNvSpPr txBox="1"/>
          <p:nvPr/>
        </p:nvSpPr>
        <p:spPr>
          <a:xfrm>
            <a:off x="8345957" y="1600200"/>
            <a:ext cx="31023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Search order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Expand B (70), D (70), then C (75), smallest bound first.</a:t>
            </a:r>
            <a:endParaRPr lang="en-US" sz="1400" dirty="0"/>
          </a:p>
        </p:txBody>
      </p:sp>
      <p:sp>
        <p:nvSpPr>
          <p:cNvPr id="9" name="card-203"/>
          <p:cNvSpPr/>
          <p:nvPr/>
        </p:nvSpPr>
        <p:spPr>
          <a:xfrm>
            <a:off x="8181365" y="2697480"/>
            <a:ext cx="3431515" cy="1078992"/>
          </a:xfrm>
          <a:prstGeom prst="roundRect">
            <a:avLst>
              <a:gd name="adj" fmla="val 6780"/>
            </a:avLst>
          </a:prstGeom>
          <a:solidFill>
            <a:srgbClr val="E0F2EA"/>
          </a:solidFill>
          <a:ln/>
        </p:spPr>
      </p:sp>
      <p:sp>
        <p:nvSpPr>
          <p:cNvPr id="10" name="text-204"/>
          <p:cNvSpPr txBox="1"/>
          <p:nvPr/>
        </p:nvSpPr>
        <p:spPr>
          <a:xfrm>
            <a:off x="8345957" y="2788920"/>
            <a:ext cx="31023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First tour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A→B→D→C→A costs 80, so best = 80.</a:t>
            </a:r>
            <a:endParaRPr lang="en-US" sz="1400" dirty="0"/>
          </a:p>
        </p:txBody>
      </p:sp>
      <p:sp>
        <p:nvSpPr>
          <p:cNvPr id="11" name="card-205"/>
          <p:cNvSpPr/>
          <p:nvPr/>
        </p:nvSpPr>
        <p:spPr>
          <a:xfrm>
            <a:off x="8181365" y="3886200"/>
            <a:ext cx="3431515" cy="1078992"/>
          </a:xfrm>
          <a:prstGeom prst="roundRect">
            <a:avLst>
              <a:gd name="adj" fmla="val 6780"/>
            </a:avLst>
          </a:prstGeom>
          <a:solidFill>
            <a:srgbClr val="FBE4E1"/>
          </a:solidFill>
          <a:ln/>
        </p:spPr>
      </p:sp>
      <p:sp>
        <p:nvSpPr>
          <p:cNvPr id="12" name="text-206"/>
          <p:cNvSpPr txBox="1"/>
          <p:nvPr/>
        </p:nvSpPr>
        <p:spPr>
          <a:xfrm>
            <a:off x="8345957" y="3977640"/>
            <a:ext cx="31023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Pruned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Four branches with bound 95, plus A→C→D (80, no improvement).</a:t>
            </a:r>
            <a:endParaRPr lang="en-US" sz="1400" dirty="0"/>
          </a:p>
        </p:txBody>
      </p:sp>
      <p:sp>
        <p:nvSpPr>
          <p:cNvPr id="13" name="card-207"/>
          <p:cNvSpPr/>
          <p:nvPr/>
        </p:nvSpPr>
        <p:spPr>
          <a:xfrm>
            <a:off x="8181365" y="5074920"/>
            <a:ext cx="3431515" cy="1078992"/>
          </a:xfrm>
          <a:prstGeom prst="roundRect">
            <a:avLst>
              <a:gd name="adj" fmla="val 6780"/>
            </a:avLst>
          </a:prstGeom>
          <a:solidFill>
            <a:srgbClr val="12263F"/>
          </a:solidFill>
          <a:ln/>
        </p:spPr>
      </p:sp>
      <p:sp>
        <p:nvSpPr>
          <p:cNvPr id="14" name="text-208"/>
          <p:cNvSpPr txBox="1"/>
          <p:nvPr/>
        </p:nvSpPr>
        <p:spPr>
          <a:xfrm>
            <a:off x="8345957" y="5166360"/>
            <a:ext cx="31023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Result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Minimum cost 80. The alternative A→C→D→B→A is the same tour reversed.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09"/>
          <p:cNvSpPr txBox="1"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All five units at a glance</a:t>
            </a:r>
            <a:endParaRPr lang="en-US" sz="3400" dirty="0"/>
          </a:p>
        </p:txBody>
      </p:sp>
      <p:graphicFrame>
        <p:nvGraphicFramePr>
          <p:cNvPr id="14" name="summar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468880"/>
                <a:gridCol w="2377440"/>
                <a:gridCol w="2194560"/>
                <a:gridCol w="32918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Paradigm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Time complexity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Key idea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263F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Merge vs Quick Sort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Divide and conquer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6F8B"/>
                          </a:solidFill>
                        </a:rPr>
                        <a:t>O(n log n)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Compare measured growth with theory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263F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Matrix multiplication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Divide and conquer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6F8B"/>
                          </a:solidFill>
                        </a:rPr>
                        <a:t>O(n</a:t>
                      </a:r>
                      <a:pPr indent="0" marL="0">
                        <a:buNone/>
                      </a:pPr>
                      <a:r>
                        <a:rPr lang="en-US" sz="1400" b="1" baseline="30000" dirty="0">
                          <a:solidFill>
                            <a:srgbClr val="1F6F8B"/>
                          </a:solidFill>
                        </a:rPr>
                        <a:t>2.81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6F8B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7 products instead of 8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263F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0/1 Knapsack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Dynamic programming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6F8B"/>
                          </a:solidFill>
                        </a:rPr>
                        <a:t>O(nW)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Fill a table, then trace back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263F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N-Queens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Backtracking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6F8B"/>
                          </a:solidFill>
                        </a:rPr>
                        <a:t>O(N!) worst case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Prune conflicts, undo bad choices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263F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Travelling salesman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Branch and bound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6F8B"/>
                          </a:solidFill>
                        </a:rPr>
                        <a:t>(n−1)! worst case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Prune branches using bounds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rd-210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4EEFA"/>
          </a:solidFill>
          <a:ln/>
        </p:spPr>
      </p:sp>
      <p:sp>
        <p:nvSpPr>
          <p:cNvPr id="7" name="text-211"/>
          <p:cNvSpPr txBox="1"/>
          <p:nvPr/>
        </p:nvSpPr>
        <p:spPr>
          <a:xfrm>
            <a:off x="77724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Common thread: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break a hard problem into smaller ones, and avoid repeated or useless work.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621792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Key takeaways</a:t>
            </a:r>
            <a:endParaRPr lang="en-US" sz="3400" dirty="0"/>
          </a:p>
        </p:txBody>
      </p:sp>
      <p:sp>
        <p:nvSpPr>
          <p:cNvPr id="4" name="badge-212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5" name="text-213"/>
          <p:cNvSpPr txBox="1"/>
          <p:nvPr/>
        </p:nvSpPr>
        <p:spPr>
          <a:xfrm>
            <a:off x="7315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-214"/>
          <p:cNvSpPr txBox="1"/>
          <p:nvPr/>
        </p:nvSpPr>
        <p:spPr>
          <a:xfrm>
            <a:off x="1463040" y="16459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Analysis: equal growth rates can still differ in speed and memory.</a:t>
            </a:r>
            <a:endParaRPr lang="en-US" sz="1600" dirty="0"/>
          </a:p>
        </p:txBody>
      </p:sp>
      <p:sp>
        <p:nvSpPr>
          <p:cNvPr id="7" name="badge-215"/>
          <p:cNvSpPr/>
          <p:nvPr/>
        </p:nvSpPr>
        <p:spPr>
          <a:xfrm>
            <a:off x="731520" y="2560320"/>
            <a:ext cx="502920" cy="50292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8" name="text-216"/>
          <p:cNvSpPr txBox="1"/>
          <p:nvPr/>
        </p:nvSpPr>
        <p:spPr>
          <a:xfrm>
            <a:off x="73152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-217"/>
          <p:cNvSpPr txBox="1"/>
          <p:nvPr/>
        </p:nvSpPr>
        <p:spPr>
          <a:xfrm>
            <a:off x="1463040" y="25603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Divide and conquer: fewer sub-problems lower the exponent.</a:t>
            </a:r>
            <a:endParaRPr lang="en-US" sz="1600" dirty="0"/>
          </a:p>
        </p:txBody>
      </p:sp>
      <p:sp>
        <p:nvSpPr>
          <p:cNvPr id="10" name="badge-218"/>
          <p:cNvSpPr/>
          <p:nvPr/>
        </p:nvSpPr>
        <p:spPr>
          <a:xfrm>
            <a:off x="731520" y="3474720"/>
            <a:ext cx="502920" cy="50292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11" name="text-219"/>
          <p:cNvSpPr txBox="1"/>
          <p:nvPr/>
        </p:nvSpPr>
        <p:spPr>
          <a:xfrm>
            <a:off x="7315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-220"/>
          <p:cNvSpPr txBox="1"/>
          <p:nvPr/>
        </p:nvSpPr>
        <p:spPr>
          <a:xfrm>
            <a:off x="1463040" y="34747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Dynamic programming: store sub-results once and reuse them.</a:t>
            </a:r>
            <a:endParaRPr lang="en-US" sz="1600" dirty="0"/>
          </a:p>
        </p:txBody>
      </p:sp>
      <p:sp>
        <p:nvSpPr>
          <p:cNvPr id="13" name="badge-221"/>
          <p:cNvSpPr/>
          <p:nvPr/>
        </p:nvSpPr>
        <p:spPr>
          <a:xfrm>
            <a:off x="731520" y="4389120"/>
            <a:ext cx="502920" cy="50292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14" name="text-222"/>
          <p:cNvSpPr txBox="1"/>
          <p:nvPr/>
        </p:nvSpPr>
        <p:spPr>
          <a:xfrm>
            <a:off x="73152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-223"/>
          <p:cNvSpPr txBox="1"/>
          <p:nvPr/>
        </p:nvSpPr>
        <p:spPr>
          <a:xfrm>
            <a:off x="1463040" y="43891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Backtracking: abandon a path at the first conflict.</a:t>
            </a:r>
            <a:endParaRPr lang="en-US" sz="1600" dirty="0"/>
          </a:p>
        </p:txBody>
      </p:sp>
      <p:sp>
        <p:nvSpPr>
          <p:cNvPr id="16" name="badge-224"/>
          <p:cNvSpPr/>
          <p:nvPr/>
        </p:nvSpPr>
        <p:spPr>
          <a:xfrm>
            <a:off x="731520" y="5303520"/>
            <a:ext cx="502920" cy="50292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17" name="text-225"/>
          <p:cNvSpPr txBox="1"/>
          <p:nvPr/>
        </p:nvSpPr>
        <p:spPr>
          <a:xfrm>
            <a:off x="73152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-226"/>
          <p:cNvSpPr txBox="1"/>
          <p:nvPr/>
        </p:nvSpPr>
        <p:spPr>
          <a:xfrm>
            <a:off x="1463040" y="53035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Branch and bound: use bounds to skip tours that cannot win.</a:t>
            </a:r>
            <a:endParaRPr lang="en-US" sz="1600" dirty="0"/>
          </a:p>
        </p:txBody>
      </p:sp>
      <p:sp>
        <p:nvSpPr>
          <p:cNvPr id="19" name="card-227"/>
          <p:cNvSpPr/>
          <p:nvPr/>
        </p:nvSpPr>
        <p:spPr>
          <a:xfrm>
            <a:off x="8046720" y="164592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1F6F8B"/>
          </a:solidFill>
          <a:ln/>
        </p:spPr>
      </p:sp>
      <p:sp>
        <p:nvSpPr>
          <p:cNvPr id="20" name="text-228"/>
          <p:cNvSpPr txBox="1"/>
          <p:nvPr/>
        </p:nvSpPr>
        <p:spPr>
          <a:xfrm>
            <a:off x="8229600" y="22860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21" name="text-229"/>
          <p:cNvSpPr txBox="1"/>
          <p:nvPr/>
        </p:nvSpPr>
        <p:spPr>
          <a:xfrm>
            <a:off x="8229600" y="3474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Questions?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A Navy">
  <a:themeElements>
    <a:clrScheme name="DAA Navy">
      <a:dk1>
        <a:srgbClr val="1B2430"/>
      </a:dk1>
      <a:lt1>
        <a:srgbClr val="FFFFFF"/>
      </a:lt1>
      <a:dk2>
        <a:srgbClr val="12263F"/>
      </a:dk2>
      <a:lt2>
        <a:srgbClr val="EEF3F8"/>
      </a:lt2>
      <a:accent1>
        <a:srgbClr val="1F6F8B"/>
      </a:accent1>
      <a:accent2>
        <a:srgbClr val="E8A317"/>
      </a:accent2>
      <a:accent3>
        <a:srgbClr val="2E8B57"/>
      </a:accent3>
      <a:accent4>
        <a:srgbClr val="C0392B"/>
      </a:accent4>
      <a:accent5>
        <a:srgbClr val="5B6C8F"/>
      </a:accent5>
      <a:accent6>
        <a:srgbClr val="8E5BB5"/>
      </a:accent6>
      <a:hlink>
        <a:srgbClr val="1F6F8B"/>
      </a:hlink>
      <a:folHlink>
        <a:srgbClr val="5B6C8F"/>
      </a:folHlink>
    </a:clrScheme>
    <a:fontScheme name="DAA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Analysis of Algorithms</dc:title>
  <dc:subject>PptxGenJS Presentation</dc:subject>
  <dc:creator>PptxGenJS</dc:creator>
  <cp:lastModifiedBy>PptxGenJS</cp:lastModifiedBy>
  <cp:revision>1</cp:revision>
  <dcterms:created xsi:type="dcterms:W3CDTF">2026-10-09T05:59:15Z</dcterms:created>
  <dcterms:modified xsi:type="dcterms:W3CDTF">2026-10-09T05:59:15Z</dcterms:modified>
</cp:coreProperties>
</file>